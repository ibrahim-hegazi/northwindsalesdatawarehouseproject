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Liter" panose="02000503030000020004" pitchFamily="34" charset="0"/>
      <p:regular r:id="rId19"/>
    </p:embeddedFont>
    <p:embeddedFont>
      <p:font typeface="Liter" panose="02000503030000020004" pitchFamily="34" charset="-122"/>
      <p:regular r:id="rId20"/>
    </p:embeddedFont>
    <p:embeddedFont>
      <p:font typeface="Liter" panose="02000503030000020004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d413edd8b4adb13374a48cc0afd8deb7ee4ed0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4" b="7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C8DAE">
                  <a:alpha val="2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400050" y="1365885"/>
            <a:ext cx="3609975" cy="419100"/>
          </a:xfrm>
          <a:custGeom>
            <a:avLst/>
            <a:gdLst/>
            <a:ahLst/>
            <a:cxnLst/>
            <a:rect l="l" t="t" r="r" b="b"/>
            <a:pathLst>
              <a:path w="3609975" h="419100">
                <a:moveTo>
                  <a:pt x="0" y="0"/>
                </a:moveTo>
                <a:lnTo>
                  <a:pt x="3609975" y="0"/>
                </a:lnTo>
                <a:lnTo>
                  <a:pt x="36099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00050" y="136588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6" name="Text 3"/>
          <p:cNvSpPr/>
          <p:nvPr/>
        </p:nvSpPr>
        <p:spPr>
          <a:xfrm>
            <a:off x="609600" y="1442085"/>
            <a:ext cx="3295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27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Engineering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89785"/>
            <a:ext cx="7658100" cy="1504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Northwind Sales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ETL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03345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comprehensive ETL pipeline transforming CSV data into a Data Warehouse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6349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C8DAE">
              <a:alpha val="3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381000" y="5867400"/>
            <a:ext cx="6772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E8E8E8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103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Ibrahim Hegazi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14513" y="6210300"/>
            <a:ext cx="809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Ali Sharaf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43689" y="6210300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Manar Eltyp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52292" y="6210300"/>
            <a:ext cx="1409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Safaa Mohamoud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84520" y="6210300"/>
            <a:ext cx="147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Wafaa Mohamoud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05862" y="5924550"/>
            <a:ext cx="110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kern="0" spc="60" dirty="0">
                <a:solidFill>
                  <a:srgbClr val="E8E8E8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86812" y="6153150"/>
            <a:ext cx="1123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March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75" y="372275"/>
            <a:ext cx="1152190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235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275" y="707322"/>
            <a:ext cx="11670815" cy="446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889" y="1600782"/>
            <a:ext cx="3648293" cy="1665930"/>
          </a:xfrm>
          <a:custGeom>
            <a:avLst/>
            <a:gdLst/>
            <a:ahLst/>
            <a:cxnLst/>
            <a:rect l="l" t="t" r="r" b="b"/>
            <a:pathLst>
              <a:path w="3648293" h="1665930">
                <a:moveTo>
                  <a:pt x="0" y="0"/>
                </a:moveTo>
                <a:lnTo>
                  <a:pt x="3648293" y="0"/>
                </a:lnTo>
                <a:lnTo>
                  <a:pt x="3648293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90889" y="1600782"/>
            <a:ext cx="37227" cy="1665930"/>
          </a:xfrm>
          <a:custGeom>
            <a:avLst/>
            <a:gdLst/>
            <a:ahLst/>
            <a:cxnLst/>
            <a:rect l="l" t="t" r="r" b="b"/>
            <a:pathLst>
              <a:path w="37227" h="1665930">
                <a:moveTo>
                  <a:pt x="0" y="0"/>
                </a:moveTo>
                <a:lnTo>
                  <a:pt x="37227" y="0"/>
                </a:lnTo>
                <a:lnTo>
                  <a:pt x="37227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Shape 4"/>
          <p:cNvSpPr/>
          <p:nvPr/>
        </p:nvSpPr>
        <p:spPr>
          <a:xfrm>
            <a:off x="632867" y="1824147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7" name="Text 5"/>
          <p:cNvSpPr/>
          <p:nvPr/>
        </p:nvSpPr>
        <p:spPr>
          <a:xfrm>
            <a:off x="577026" y="1824147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2962" y="1935829"/>
            <a:ext cx="2121966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Overview &amp;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867" y="2494241"/>
            <a:ext cx="3266711" cy="549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context and challenges in data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1742" y="1600782"/>
            <a:ext cx="3648293" cy="1665930"/>
          </a:xfrm>
          <a:custGeom>
            <a:avLst/>
            <a:gdLst/>
            <a:ahLst/>
            <a:cxnLst/>
            <a:rect l="l" t="t" r="r" b="b"/>
            <a:pathLst>
              <a:path w="3648293" h="1665930">
                <a:moveTo>
                  <a:pt x="0" y="0"/>
                </a:moveTo>
                <a:lnTo>
                  <a:pt x="3648293" y="0"/>
                </a:lnTo>
                <a:lnTo>
                  <a:pt x="3648293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281742" y="1600782"/>
            <a:ext cx="37227" cy="1665930"/>
          </a:xfrm>
          <a:custGeom>
            <a:avLst/>
            <a:gdLst/>
            <a:ahLst/>
            <a:cxnLst/>
            <a:rect l="l" t="t" r="r" b="b"/>
            <a:pathLst>
              <a:path w="37227" h="1665930">
                <a:moveTo>
                  <a:pt x="0" y="0"/>
                </a:moveTo>
                <a:lnTo>
                  <a:pt x="37227" y="0"/>
                </a:lnTo>
                <a:lnTo>
                  <a:pt x="37227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12" name="Shape 10"/>
          <p:cNvSpPr/>
          <p:nvPr/>
        </p:nvSpPr>
        <p:spPr>
          <a:xfrm>
            <a:off x="4523721" y="1824147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3" name="Text 11"/>
          <p:cNvSpPr/>
          <p:nvPr/>
        </p:nvSpPr>
        <p:spPr>
          <a:xfrm>
            <a:off x="4467879" y="1824147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3815" y="1935829"/>
            <a:ext cx="1154052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3721" y="2494241"/>
            <a:ext cx="3266711" cy="549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Six key goals driving the ETL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2712" y="1600782"/>
            <a:ext cx="3648293" cy="1665930"/>
          </a:xfrm>
          <a:custGeom>
            <a:avLst/>
            <a:gdLst/>
            <a:ahLst/>
            <a:cxnLst/>
            <a:rect l="l" t="t" r="r" b="b"/>
            <a:pathLst>
              <a:path w="3648293" h="1665930">
                <a:moveTo>
                  <a:pt x="0" y="0"/>
                </a:moveTo>
                <a:lnTo>
                  <a:pt x="3648293" y="0"/>
                </a:lnTo>
                <a:lnTo>
                  <a:pt x="3648293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8172712" y="1600782"/>
            <a:ext cx="37227" cy="1665930"/>
          </a:xfrm>
          <a:custGeom>
            <a:avLst/>
            <a:gdLst/>
            <a:ahLst/>
            <a:cxnLst/>
            <a:rect l="l" t="t" r="r" b="b"/>
            <a:pathLst>
              <a:path w="37227" h="1665930">
                <a:moveTo>
                  <a:pt x="0" y="0"/>
                </a:moveTo>
                <a:lnTo>
                  <a:pt x="37227" y="0"/>
                </a:lnTo>
                <a:lnTo>
                  <a:pt x="37227" y="1665930"/>
                </a:lnTo>
                <a:lnTo>
                  <a:pt x="0" y="166593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18" name="Shape 16"/>
          <p:cNvSpPr/>
          <p:nvPr/>
        </p:nvSpPr>
        <p:spPr>
          <a:xfrm>
            <a:off x="8414690" y="1824147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9" name="Text 17"/>
          <p:cNvSpPr/>
          <p:nvPr/>
        </p:nvSpPr>
        <p:spPr>
          <a:xfrm>
            <a:off x="8358849" y="1824147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4785" y="1935829"/>
            <a:ext cx="1842760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4690" y="2494241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 files and data relationships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0889" y="3485423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90889" y="3485423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Shape 22"/>
          <p:cNvSpPr/>
          <p:nvPr/>
        </p:nvSpPr>
        <p:spPr>
          <a:xfrm>
            <a:off x="632867" y="370878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5" name="Text 23"/>
          <p:cNvSpPr/>
          <p:nvPr/>
        </p:nvSpPr>
        <p:spPr>
          <a:xfrm>
            <a:off x="577026" y="3708788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2962" y="3820470"/>
            <a:ext cx="1777612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ETL Architecture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867" y="4378882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Medallion architecture and data flow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81742" y="3485423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4281742" y="3485423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0" name="Shape 28"/>
          <p:cNvSpPr/>
          <p:nvPr/>
        </p:nvSpPr>
        <p:spPr>
          <a:xfrm>
            <a:off x="4523721" y="370878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1" name="Text 29"/>
          <p:cNvSpPr/>
          <p:nvPr/>
        </p:nvSpPr>
        <p:spPr>
          <a:xfrm>
            <a:off x="4467879" y="3708788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815" y="3820470"/>
            <a:ext cx="2010284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Tools &amp; Tech Stack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23721" y="4378882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Technologies powering the pipeline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72712" y="3485423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172712" y="3485423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6" name="Shape 34"/>
          <p:cNvSpPr/>
          <p:nvPr/>
        </p:nvSpPr>
        <p:spPr>
          <a:xfrm>
            <a:off x="8414690" y="370878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7" name="Text 35"/>
          <p:cNvSpPr/>
          <p:nvPr/>
        </p:nvSpPr>
        <p:spPr>
          <a:xfrm>
            <a:off x="8358849" y="3708788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84785" y="3820470"/>
            <a:ext cx="2094046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 Design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14690" y="4378882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Dimensional modeling for analytics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0889" y="5097838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90889" y="5097838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42" name="Shape 40"/>
          <p:cNvSpPr/>
          <p:nvPr/>
        </p:nvSpPr>
        <p:spPr>
          <a:xfrm>
            <a:off x="632867" y="5321203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43" name="Text 41"/>
          <p:cNvSpPr/>
          <p:nvPr/>
        </p:nvSpPr>
        <p:spPr>
          <a:xfrm>
            <a:off x="577026" y="5321203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02962" y="5432885"/>
            <a:ext cx="1824147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Airflow Workflow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867" y="5991298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Orchestration and task management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81742" y="5097838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281742" y="5097838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48" name="Shape 46"/>
          <p:cNvSpPr/>
          <p:nvPr/>
        </p:nvSpPr>
        <p:spPr>
          <a:xfrm>
            <a:off x="4523721" y="5321203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49" name="Text 47"/>
          <p:cNvSpPr/>
          <p:nvPr/>
        </p:nvSpPr>
        <p:spPr>
          <a:xfrm>
            <a:off x="4467879" y="5321203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93815" y="5432885"/>
            <a:ext cx="1135438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Outcomes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23721" y="5991298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Results and project deliverables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72712" y="5097838"/>
            <a:ext cx="3648293" cy="1386724"/>
          </a:xfrm>
          <a:custGeom>
            <a:avLst/>
            <a:gdLst/>
            <a:ahLst/>
            <a:cxnLst/>
            <a:rect l="l" t="t" r="r" b="b"/>
            <a:pathLst>
              <a:path w="3648293" h="1386724">
                <a:moveTo>
                  <a:pt x="0" y="0"/>
                </a:moveTo>
                <a:lnTo>
                  <a:pt x="3648293" y="0"/>
                </a:lnTo>
                <a:lnTo>
                  <a:pt x="3648293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172712" y="5097838"/>
            <a:ext cx="37227" cy="1386724"/>
          </a:xfrm>
          <a:custGeom>
            <a:avLst/>
            <a:gdLst/>
            <a:ahLst/>
            <a:cxnLst/>
            <a:rect l="l" t="t" r="r" b="b"/>
            <a:pathLst>
              <a:path w="37227" h="1386724">
                <a:moveTo>
                  <a:pt x="0" y="0"/>
                </a:moveTo>
                <a:lnTo>
                  <a:pt x="37227" y="0"/>
                </a:lnTo>
                <a:lnTo>
                  <a:pt x="37227" y="1386724"/>
                </a:lnTo>
                <a:lnTo>
                  <a:pt x="0" y="1386724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54" name="Shape 52"/>
          <p:cNvSpPr/>
          <p:nvPr/>
        </p:nvSpPr>
        <p:spPr>
          <a:xfrm>
            <a:off x="8414690" y="5321203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260592" y="0"/>
                </a:moveTo>
                <a:lnTo>
                  <a:pt x="260592" y="0"/>
                </a:lnTo>
                <a:cubicBezTo>
                  <a:pt x="404514" y="0"/>
                  <a:pt x="521185" y="116671"/>
                  <a:pt x="521185" y="260592"/>
                </a:cubicBezTo>
                <a:lnTo>
                  <a:pt x="521185" y="260592"/>
                </a:lnTo>
                <a:cubicBezTo>
                  <a:pt x="521185" y="404514"/>
                  <a:pt x="404514" y="521185"/>
                  <a:pt x="260592" y="521185"/>
                </a:cubicBezTo>
                <a:lnTo>
                  <a:pt x="260592" y="521185"/>
                </a:lnTo>
                <a:cubicBezTo>
                  <a:pt x="116671" y="521185"/>
                  <a:pt x="0" y="404514"/>
                  <a:pt x="0" y="260592"/>
                </a:cubicBezTo>
                <a:lnTo>
                  <a:pt x="0" y="260592"/>
                </a:lnTo>
                <a:cubicBezTo>
                  <a:pt x="0" y="116671"/>
                  <a:pt x="116671" y="0"/>
                  <a:pt x="260592" y="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55" name="Text 53"/>
          <p:cNvSpPr/>
          <p:nvPr/>
        </p:nvSpPr>
        <p:spPr>
          <a:xfrm>
            <a:off x="8358849" y="5321203"/>
            <a:ext cx="632867" cy="52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84785" y="5432885"/>
            <a:ext cx="1740385" cy="297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14690" y="5991298"/>
            <a:ext cx="3266711" cy="269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Benefits and enhancement opportunities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24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 &amp;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99210"/>
            <a:ext cx="5589270" cy="3589020"/>
          </a:xfrm>
          <a:custGeom>
            <a:avLst/>
            <a:gdLst/>
            <a:ahLst/>
            <a:cxnLst/>
            <a:rect l="l" t="t" r="r" b="b"/>
            <a:pathLst>
              <a:path w="5589270" h="3589020">
                <a:moveTo>
                  <a:pt x="76195" y="0"/>
                </a:moveTo>
                <a:lnTo>
                  <a:pt x="5513075" y="0"/>
                </a:lnTo>
                <a:cubicBezTo>
                  <a:pt x="5555156" y="0"/>
                  <a:pt x="5589270" y="34114"/>
                  <a:pt x="5589270" y="76195"/>
                </a:cubicBezTo>
                <a:lnTo>
                  <a:pt x="5589270" y="3512825"/>
                </a:lnTo>
                <a:cubicBezTo>
                  <a:pt x="5589270" y="3554906"/>
                  <a:pt x="5555156" y="3589020"/>
                  <a:pt x="5513075" y="3589020"/>
                </a:cubicBezTo>
                <a:lnTo>
                  <a:pt x="76195" y="3589020"/>
                </a:lnTo>
                <a:cubicBezTo>
                  <a:pt x="34114" y="3589020"/>
                  <a:pt x="0" y="3554906"/>
                  <a:pt x="0" y="35128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Shape 4"/>
          <p:cNvSpPr/>
          <p:nvPr/>
        </p:nvSpPr>
        <p:spPr>
          <a:xfrm>
            <a:off x="750570" y="16649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7" name="Text 5"/>
          <p:cNvSpPr/>
          <p:nvPr/>
        </p:nvSpPr>
        <p:spPr>
          <a:xfrm>
            <a:off x="1188720" y="1607820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179320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implements a complete ETL pipeline for the classic Northwind Sales dataset, demonstrating core data engineering concepts from ingestion to analytics-ready warehousing.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31508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0" name="Text 8"/>
          <p:cNvSpPr/>
          <p:nvPr/>
        </p:nvSpPr>
        <p:spPr>
          <a:xfrm>
            <a:off x="807720" y="3074670"/>
            <a:ext cx="3343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Extract: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Read data from multiple CSV source 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34937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2" name="Text 10"/>
          <p:cNvSpPr/>
          <p:nvPr/>
        </p:nvSpPr>
        <p:spPr>
          <a:xfrm>
            <a:off x="807720" y="3417570"/>
            <a:ext cx="2990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Transform: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Clean, integrate, and model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" y="38366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4" name="Text 12"/>
          <p:cNvSpPr/>
          <p:nvPr/>
        </p:nvSpPr>
        <p:spPr>
          <a:xfrm>
            <a:off x="807720" y="376047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Load: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Store in PostgreSQL Star Schema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" y="41795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6" name="Text 14"/>
          <p:cNvSpPr/>
          <p:nvPr/>
        </p:nvSpPr>
        <p:spPr>
          <a:xfrm>
            <a:off x="807720" y="4103370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Automate: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Orchestrate with Apache Airflow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4110" y="1299210"/>
            <a:ext cx="5589270" cy="3589020"/>
          </a:xfrm>
          <a:custGeom>
            <a:avLst/>
            <a:gdLst/>
            <a:ahLst/>
            <a:cxnLst/>
            <a:rect l="l" t="t" r="r" b="b"/>
            <a:pathLst>
              <a:path w="5589270" h="3589020">
                <a:moveTo>
                  <a:pt x="76195" y="0"/>
                </a:moveTo>
                <a:lnTo>
                  <a:pt x="5513075" y="0"/>
                </a:lnTo>
                <a:cubicBezTo>
                  <a:pt x="5555156" y="0"/>
                  <a:pt x="5589270" y="34114"/>
                  <a:pt x="5589270" y="76195"/>
                </a:cubicBezTo>
                <a:lnTo>
                  <a:pt x="5589270" y="3512825"/>
                </a:lnTo>
                <a:cubicBezTo>
                  <a:pt x="5589270" y="3554906"/>
                  <a:pt x="5555156" y="3589020"/>
                  <a:pt x="5513075" y="3589020"/>
                </a:cubicBezTo>
                <a:lnTo>
                  <a:pt x="76195" y="3589020"/>
                </a:lnTo>
                <a:cubicBezTo>
                  <a:pt x="34114" y="3589020"/>
                  <a:pt x="0" y="3554906"/>
                  <a:pt x="0" y="35128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9" name="Shape 17"/>
          <p:cNvSpPr/>
          <p:nvPr/>
        </p:nvSpPr>
        <p:spPr>
          <a:xfrm>
            <a:off x="6579870" y="16649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7018020" y="1607820"/>
            <a:ext cx="1552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179320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Businesses store operational data in </a:t>
            </a:r>
            <a:r>
              <a:rPr lang="en-US" sz="120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disparate flat-file formats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(CSVs), creating significant barriers to effective analysis and reporting.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2827020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579870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4" name="Text 22"/>
          <p:cNvSpPr/>
          <p:nvPr/>
        </p:nvSpPr>
        <p:spPr>
          <a:xfrm>
            <a:off x="6808470" y="294132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Normalized OLTP format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spread across multiple files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3398520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579870" y="3543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7" name="Text 25"/>
          <p:cNvSpPr/>
          <p:nvPr/>
        </p:nvSpPr>
        <p:spPr>
          <a:xfrm>
            <a:off x="6808470" y="3512820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Complex joins required</a:t>
            </a: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→ inefficient for business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3970020"/>
            <a:ext cx="5124450" cy="685800"/>
          </a:xfrm>
          <a:custGeom>
            <a:avLst/>
            <a:gdLst/>
            <a:ahLst/>
            <a:cxnLst/>
            <a:rect l="l" t="t" r="r" b="b"/>
            <a:pathLst>
              <a:path w="5124450" h="685800">
                <a:moveTo>
                  <a:pt x="76199" y="0"/>
                </a:moveTo>
                <a:lnTo>
                  <a:pt x="5048251" y="0"/>
                </a:lnTo>
                <a:cubicBezTo>
                  <a:pt x="5090334" y="0"/>
                  <a:pt x="5124450" y="34116"/>
                  <a:pt x="5124450" y="76199"/>
                </a:cubicBezTo>
                <a:lnTo>
                  <a:pt x="5124450" y="609601"/>
                </a:lnTo>
                <a:cubicBezTo>
                  <a:pt x="5124450" y="651684"/>
                  <a:pt x="5090334" y="685800"/>
                  <a:pt x="50482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579870" y="4114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0" name="Text 28"/>
          <p:cNvSpPr/>
          <p:nvPr/>
        </p:nvSpPr>
        <p:spPr>
          <a:xfrm>
            <a:off x="6808470" y="408432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Without proper ETL, generating insights is </a:t>
            </a:r>
            <a:r>
              <a:rPr lang="en-US" sz="12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slow and resource-intensive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5120641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143000"/>
                </a:lnTo>
                <a:cubicBezTo>
                  <a:pt x="11410950" y="1185056"/>
                  <a:pt x="11376806" y="1219200"/>
                  <a:pt x="113347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B88A53">
                  <a:alpha val="20000"/>
                </a:srgbClr>
              </a:gs>
            </a:gsLst>
            <a:lin ang="0" scaled="1"/>
          </a:gradFill>
        </p:spPr>
      </p:sp>
      <p:sp>
        <p:nvSpPr>
          <p:cNvPr id="32" name="Shape 30"/>
          <p:cNvSpPr/>
          <p:nvPr/>
        </p:nvSpPr>
        <p:spPr>
          <a:xfrm>
            <a:off x="400050" y="5120641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33" name="Shape 31"/>
          <p:cNvSpPr/>
          <p:nvPr/>
        </p:nvSpPr>
        <p:spPr>
          <a:xfrm>
            <a:off x="623888" y="53492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4" name="Text 32"/>
          <p:cNvSpPr/>
          <p:nvPr/>
        </p:nvSpPr>
        <p:spPr>
          <a:xfrm>
            <a:off x="960953" y="5311141"/>
            <a:ext cx="10744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953" y="5654041"/>
            <a:ext cx="107346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 raw normalized data into a </a:t>
            </a:r>
            <a:r>
              <a:rPr lang="en-US" sz="120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Star Schema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, making it ready for fast and intuitive reporting. The entire workflow is automated and monitored using </a:t>
            </a:r>
            <a:r>
              <a:rPr lang="en-US" sz="120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Apache Airflow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, ensuring reliable and repeatable data processing.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53118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kern="0" spc="224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41852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484" y="1281314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4994" y="1497824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Shape 4"/>
          <p:cNvSpPr/>
          <p:nvPr/>
        </p:nvSpPr>
        <p:spPr>
          <a:xfrm>
            <a:off x="739151" y="1675291"/>
            <a:ext cx="239581" cy="212961"/>
          </a:xfrm>
          <a:custGeom>
            <a:avLst/>
            <a:gdLst/>
            <a:ahLst/>
            <a:cxnLst/>
            <a:rect l="l" t="t" r="r" b="b"/>
            <a:pathLst>
              <a:path w="239581" h="212961">
                <a:moveTo>
                  <a:pt x="39930" y="0"/>
                </a:moveTo>
                <a:cubicBezTo>
                  <a:pt x="25247" y="0"/>
                  <a:pt x="13310" y="11937"/>
                  <a:pt x="13310" y="26620"/>
                </a:cubicBezTo>
                <a:lnTo>
                  <a:pt x="13310" y="186341"/>
                </a:lnTo>
                <a:cubicBezTo>
                  <a:pt x="13310" y="201023"/>
                  <a:pt x="25247" y="212961"/>
                  <a:pt x="39930" y="212961"/>
                </a:cubicBezTo>
                <a:lnTo>
                  <a:pt x="73205" y="212961"/>
                </a:lnTo>
                <a:lnTo>
                  <a:pt x="73205" y="166376"/>
                </a:lnTo>
                <a:cubicBezTo>
                  <a:pt x="73205" y="151693"/>
                  <a:pt x="85143" y="139755"/>
                  <a:pt x="99825" y="139755"/>
                </a:cubicBezTo>
                <a:lnTo>
                  <a:pt x="173031" y="139755"/>
                </a:lnTo>
                <a:lnTo>
                  <a:pt x="173031" y="70918"/>
                </a:lnTo>
                <a:cubicBezTo>
                  <a:pt x="173031" y="63847"/>
                  <a:pt x="170244" y="57067"/>
                  <a:pt x="165253" y="52076"/>
                </a:cubicBezTo>
                <a:lnTo>
                  <a:pt x="120913" y="7778"/>
                </a:lnTo>
                <a:cubicBezTo>
                  <a:pt x="115922" y="2787"/>
                  <a:pt x="109184" y="0"/>
                  <a:pt x="102113" y="0"/>
                </a:cubicBezTo>
                <a:lnTo>
                  <a:pt x="39930" y="0"/>
                </a:lnTo>
                <a:close/>
                <a:moveTo>
                  <a:pt x="148698" y="73205"/>
                </a:moveTo>
                <a:lnTo>
                  <a:pt x="109808" y="73205"/>
                </a:lnTo>
                <a:cubicBezTo>
                  <a:pt x="104276" y="73205"/>
                  <a:pt x="99825" y="68755"/>
                  <a:pt x="99825" y="63223"/>
                </a:cubicBezTo>
                <a:lnTo>
                  <a:pt x="99825" y="24332"/>
                </a:lnTo>
                <a:lnTo>
                  <a:pt x="148698" y="73205"/>
                </a:lnTo>
                <a:close/>
                <a:moveTo>
                  <a:pt x="109808" y="158057"/>
                </a:moveTo>
                <a:cubicBezTo>
                  <a:pt x="99701" y="158057"/>
                  <a:pt x="91507" y="166251"/>
                  <a:pt x="91507" y="176358"/>
                </a:cubicBezTo>
                <a:lnTo>
                  <a:pt x="91507" y="209633"/>
                </a:lnTo>
                <a:cubicBezTo>
                  <a:pt x="91507" y="219741"/>
                  <a:pt x="99701" y="227934"/>
                  <a:pt x="109808" y="227934"/>
                </a:cubicBezTo>
                <a:lnTo>
                  <a:pt x="116463" y="227934"/>
                </a:lnTo>
                <a:cubicBezTo>
                  <a:pt x="126570" y="227934"/>
                  <a:pt x="134764" y="219741"/>
                  <a:pt x="134764" y="209633"/>
                </a:cubicBezTo>
                <a:lnTo>
                  <a:pt x="134764" y="206306"/>
                </a:lnTo>
                <a:cubicBezTo>
                  <a:pt x="134764" y="201730"/>
                  <a:pt x="131021" y="197987"/>
                  <a:pt x="126445" y="197987"/>
                </a:cubicBezTo>
                <a:cubicBezTo>
                  <a:pt x="121870" y="197987"/>
                  <a:pt x="118127" y="201730"/>
                  <a:pt x="118127" y="206306"/>
                </a:cubicBezTo>
                <a:lnTo>
                  <a:pt x="118127" y="209633"/>
                </a:lnTo>
                <a:cubicBezTo>
                  <a:pt x="118127" y="210548"/>
                  <a:pt x="117378" y="211297"/>
                  <a:pt x="116463" y="211297"/>
                </a:cubicBezTo>
                <a:lnTo>
                  <a:pt x="109808" y="211297"/>
                </a:lnTo>
                <a:cubicBezTo>
                  <a:pt x="108893" y="211297"/>
                  <a:pt x="108144" y="210548"/>
                  <a:pt x="108144" y="209633"/>
                </a:cubicBezTo>
                <a:lnTo>
                  <a:pt x="108144" y="176358"/>
                </a:lnTo>
                <a:cubicBezTo>
                  <a:pt x="108144" y="175443"/>
                  <a:pt x="108893" y="174694"/>
                  <a:pt x="109808" y="174694"/>
                </a:cubicBezTo>
                <a:lnTo>
                  <a:pt x="116463" y="174694"/>
                </a:lnTo>
                <a:cubicBezTo>
                  <a:pt x="117378" y="174694"/>
                  <a:pt x="118127" y="175443"/>
                  <a:pt x="118127" y="176358"/>
                </a:cubicBezTo>
                <a:lnTo>
                  <a:pt x="118127" y="179686"/>
                </a:lnTo>
                <a:cubicBezTo>
                  <a:pt x="118127" y="184261"/>
                  <a:pt x="121870" y="188004"/>
                  <a:pt x="126445" y="188004"/>
                </a:cubicBezTo>
                <a:cubicBezTo>
                  <a:pt x="131021" y="188004"/>
                  <a:pt x="134764" y="184261"/>
                  <a:pt x="134764" y="179686"/>
                </a:cubicBezTo>
                <a:lnTo>
                  <a:pt x="134764" y="176358"/>
                </a:lnTo>
                <a:cubicBezTo>
                  <a:pt x="134764" y="166251"/>
                  <a:pt x="126570" y="158057"/>
                  <a:pt x="116463" y="158057"/>
                </a:cubicBezTo>
                <a:lnTo>
                  <a:pt x="109808" y="158057"/>
                </a:lnTo>
                <a:close/>
                <a:moveTo>
                  <a:pt x="166376" y="158057"/>
                </a:moveTo>
                <a:cubicBezTo>
                  <a:pt x="154438" y="158057"/>
                  <a:pt x="144747" y="167748"/>
                  <a:pt x="144747" y="179686"/>
                </a:cubicBezTo>
                <a:cubicBezTo>
                  <a:pt x="144747" y="191623"/>
                  <a:pt x="154438" y="201314"/>
                  <a:pt x="166376" y="201314"/>
                </a:cubicBezTo>
                <a:cubicBezTo>
                  <a:pt x="169121" y="201314"/>
                  <a:pt x="171367" y="203560"/>
                  <a:pt x="171367" y="206306"/>
                </a:cubicBezTo>
                <a:cubicBezTo>
                  <a:pt x="171367" y="209051"/>
                  <a:pt x="169121" y="211297"/>
                  <a:pt x="166376" y="211297"/>
                </a:cubicBezTo>
                <a:lnTo>
                  <a:pt x="153066" y="211297"/>
                </a:lnTo>
                <a:cubicBezTo>
                  <a:pt x="148490" y="211297"/>
                  <a:pt x="144747" y="215040"/>
                  <a:pt x="144747" y="219616"/>
                </a:cubicBezTo>
                <a:cubicBezTo>
                  <a:pt x="144747" y="224191"/>
                  <a:pt x="148490" y="227934"/>
                  <a:pt x="153066" y="227934"/>
                </a:cubicBezTo>
                <a:lnTo>
                  <a:pt x="166376" y="227934"/>
                </a:lnTo>
                <a:cubicBezTo>
                  <a:pt x="178313" y="227934"/>
                  <a:pt x="188004" y="218243"/>
                  <a:pt x="188004" y="206306"/>
                </a:cubicBezTo>
                <a:cubicBezTo>
                  <a:pt x="188004" y="194368"/>
                  <a:pt x="178313" y="184677"/>
                  <a:pt x="166376" y="184677"/>
                </a:cubicBezTo>
                <a:cubicBezTo>
                  <a:pt x="163630" y="184677"/>
                  <a:pt x="161384" y="182431"/>
                  <a:pt x="161384" y="179686"/>
                </a:cubicBezTo>
                <a:cubicBezTo>
                  <a:pt x="161384" y="176940"/>
                  <a:pt x="163630" y="174694"/>
                  <a:pt x="166376" y="174694"/>
                </a:cubicBezTo>
                <a:lnTo>
                  <a:pt x="176358" y="174694"/>
                </a:lnTo>
                <a:cubicBezTo>
                  <a:pt x="180933" y="174694"/>
                  <a:pt x="184677" y="170951"/>
                  <a:pt x="184677" y="166376"/>
                </a:cubicBezTo>
                <a:cubicBezTo>
                  <a:pt x="184677" y="161800"/>
                  <a:pt x="180933" y="158057"/>
                  <a:pt x="176358" y="158057"/>
                </a:cubicBezTo>
                <a:lnTo>
                  <a:pt x="166376" y="158057"/>
                </a:lnTo>
                <a:close/>
                <a:moveTo>
                  <a:pt x="206306" y="158057"/>
                </a:moveTo>
                <a:cubicBezTo>
                  <a:pt x="201730" y="158057"/>
                  <a:pt x="197987" y="161800"/>
                  <a:pt x="197987" y="166376"/>
                </a:cubicBezTo>
                <a:lnTo>
                  <a:pt x="197987" y="179519"/>
                </a:lnTo>
                <a:cubicBezTo>
                  <a:pt x="197987" y="194285"/>
                  <a:pt x="202354" y="208760"/>
                  <a:pt x="210548" y="221030"/>
                </a:cubicBezTo>
                <a:lnTo>
                  <a:pt x="212670" y="224233"/>
                </a:lnTo>
                <a:cubicBezTo>
                  <a:pt x="214209" y="226562"/>
                  <a:pt x="216829" y="227934"/>
                  <a:pt x="219574" y="227934"/>
                </a:cubicBezTo>
                <a:cubicBezTo>
                  <a:pt x="222319" y="227934"/>
                  <a:pt x="224940" y="226562"/>
                  <a:pt x="226479" y="224233"/>
                </a:cubicBezTo>
                <a:lnTo>
                  <a:pt x="228600" y="221030"/>
                </a:lnTo>
                <a:cubicBezTo>
                  <a:pt x="236794" y="208718"/>
                  <a:pt x="241161" y="194285"/>
                  <a:pt x="241161" y="179519"/>
                </a:cubicBezTo>
                <a:lnTo>
                  <a:pt x="241161" y="166376"/>
                </a:lnTo>
                <a:cubicBezTo>
                  <a:pt x="241161" y="161800"/>
                  <a:pt x="237418" y="158057"/>
                  <a:pt x="232843" y="158057"/>
                </a:cubicBezTo>
                <a:cubicBezTo>
                  <a:pt x="228267" y="158057"/>
                  <a:pt x="224524" y="161800"/>
                  <a:pt x="224524" y="166376"/>
                </a:cubicBezTo>
                <a:lnTo>
                  <a:pt x="224524" y="179519"/>
                </a:lnTo>
                <a:cubicBezTo>
                  <a:pt x="224524" y="187672"/>
                  <a:pt x="222818" y="195699"/>
                  <a:pt x="219533" y="203103"/>
                </a:cubicBezTo>
                <a:cubicBezTo>
                  <a:pt x="216247" y="195699"/>
                  <a:pt x="214541" y="187672"/>
                  <a:pt x="214541" y="179519"/>
                </a:cubicBezTo>
                <a:lnTo>
                  <a:pt x="214541" y="166376"/>
                </a:lnTo>
                <a:cubicBezTo>
                  <a:pt x="214541" y="161800"/>
                  <a:pt x="210798" y="158057"/>
                  <a:pt x="206222" y="15805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" name="Text 5"/>
          <p:cNvSpPr/>
          <p:nvPr/>
        </p:nvSpPr>
        <p:spPr>
          <a:xfrm>
            <a:off x="574994" y="2207693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4994" y="2562628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Read data from multiple flat files (CSV format) containing operational business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45571" y="1281314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081" y="1497824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1" name="Shape 9"/>
          <p:cNvSpPr/>
          <p:nvPr/>
        </p:nvSpPr>
        <p:spPr>
          <a:xfrm>
            <a:off x="4626238" y="1675291"/>
            <a:ext cx="239581" cy="212961"/>
          </a:xfrm>
          <a:custGeom>
            <a:avLst/>
            <a:gdLst/>
            <a:ahLst/>
            <a:cxnLst/>
            <a:rect l="l" t="t" r="r" b="b"/>
            <a:pathLst>
              <a:path w="239581" h="212961">
                <a:moveTo>
                  <a:pt x="235671" y="22710"/>
                </a:moveTo>
                <a:cubicBezTo>
                  <a:pt x="240870" y="17511"/>
                  <a:pt x="240870" y="9067"/>
                  <a:pt x="235671" y="3868"/>
                </a:cubicBezTo>
                <a:cubicBezTo>
                  <a:pt x="230472" y="-1331"/>
                  <a:pt x="222028" y="-1331"/>
                  <a:pt x="216829" y="3868"/>
                </a:cubicBezTo>
                <a:lnTo>
                  <a:pt x="136969" y="83728"/>
                </a:lnTo>
                <a:lnTo>
                  <a:pt x="122536" y="69295"/>
                </a:lnTo>
                <a:cubicBezTo>
                  <a:pt x="120789" y="67548"/>
                  <a:pt x="118376" y="66550"/>
                  <a:pt x="115881" y="66550"/>
                </a:cubicBezTo>
                <a:cubicBezTo>
                  <a:pt x="110681" y="66550"/>
                  <a:pt x="106480" y="70751"/>
                  <a:pt x="106480" y="75950"/>
                </a:cubicBezTo>
                <a:lnTo>
                  <a:pt x="106480" y="88054"/>
                </a:lnTo>
                <a:lnTo>
                  <a:pt x="151527" y="133100"/>
                </a:lnTo>
                <a:lnTo>
                  <a:pt x="163630" y="133100"/>
                </a:lnTo>
                <a:cubicBezTo>
                  <a:pt x="168830" y="133100"/>
                  <a:pt x="173031" y="128899"/>
                  <a:pt x="173031" y="123700"/>
                </a:cubicBezTo>
                <a:cubicBezTo>
                  <a:pt x="173031" y="121205"/>
                  <a:pt x="172032" y="118792"/>
                  <a:pt x="170285" y="117045"/>
                </a:cubicBezTo>
                <a:lnTo>
                  <a:pt x="155852" y="102612"/>
                </a:lnTo>
                <a:lnTo>
                  <a:pt x="235713" y="22752"/>
                </a:lnTo>
                <a:close/>
                <a:moveTo>
                  <a:pt x="141877" y="146993"/>
                </a:moveTo>
                <a:lnTo>
                  <a:pt x="92588" y="97704"/>
                </a:lnTo>
                <a:cubicBezTo>
                  <a:pt x="74827" y="96165"/>
                  <a:pt x="57150" y="102571"/>
                  <a:pt x="44422" y="115298"/>
                </a:cubicBezTo>
                <a:lnTo>
                  <a:pt x="41095" y="118626"/>
                </a:lnTo>
                <a:cubicBezTo>
                  <a:pt x="31819" y="127901"/>
                  <a:pt x="26620" y="140463"/>
                  <a:pt x="26620" y="153565"/>
                </a:cubicBezTo>
                <a:cubicBezTo>
                  <a:pt x="26620" y="156393"/>
                  <a:pt x="29573" y="158223"/>
                  <a:pt x="32110" y="156975"/>
                </a:cubicBezTo>
                <a:lnTo>
                  <a:pt x="53365" y="146369"/>
                </a:lnTo>
                <a:cubicBezTo>
                  <a:pt x="55445" y="145329"/>
                  <a:pt x="57316" y="148074"/>
                  <a:pt x="55611" y="149655"/>
                </a:cubicBezTo>
                <a:lnTo>
                  <a:pt x="3036" y="196905"/>
                </a:lnTo>
                <a:cubicBezTo>
                  <a:pt x="1123" y="198652"/>
                  <a:pt x="0" y="201148"/>
                  <a:pt x="0" y="203768"/>
                </a:cubicBezTo>
                <a:cubicBezTo>
                  <a:pt x="0" y="208843"/>
                  <a:pt x="4118" y="212961"/>
                  <a:pt x="9192" y="212961"/>
                </a:cubicBezTo>
                <a:lnTo>
                  <a:pt x="81274" y="212961"/>
                </a:lnTo>
                <a:cubicBezTo>
                  <a:pt x="97413" y="212961"/>
                  <a:pt x="112844" y="206555"/>
                  <a:pt x="124283" y="195159"/>
                </a:cubicBezTo>
                <a:cubicBezTo>
                  <a:pt x="137010" y="182431"/>
                  <a:pt x="143374" y="164753"/>
                  <a:pt x="141877" y="14699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2" name="Text 10"/>
          <p:cNvSpPr/>
          <p:nvPr/>
        </p:nvSpPr>
        <p:spPr>
          <a:xfrm>
            <a:off x="4462081" y="2207693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 &amp; Preprocess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62081" y="2562628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Handle missing values, correct data types, and standardize formats for consistency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70" y="1281314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9279" y="1497824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6" name="Shape 14"/>
          <p:cNvSpPr/>
          <p:nvPr/>
        </p:nvSpPr>
        <p:spPr>
          <a:xfrm>
            <a:off x="8526747" y="1675291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209051" y="62640"/>
                </a:moveTo>
                <a:lnTo>
                  <a:pt x="169121" y="102571"/>
                </a:lnTo>
                <a:cubicBezTo>
                  <a:pt x="165294" y="106397"/>
                  <a:pt x="159596" y="107520"/>
                  <a:pt x="154604" y="105441"/>
                </a:cubicBezTo>
                <a:cubicBezTo>
                  <a:pt x="149613" y="103361"/>
                  <a:pt x="146410" y="98536"/>
                  <a:pt x="146410" y="93170"/>
                </a:cubicBezTo>
                <a:lnTo>
                  <a:pt x="146410" y="66550"/>
                </a:lnTo>
                <a:lnTo>
                  <a:pt x="13310" y="66550"/>
                </a:lnTo>
                <a:cubicBezTo>
                  <a:pt x="5948" y="66550"/>
                  <a:pt x="0" y="60602"/>
                  <a:pt x="0" y="53240"/>
                </a:cubicBezTo>
                <a:cubicBezTo>
                  <a:pt x="0" y="45878"/>
                  <a:pt x="5948" y="39930"/>
                  <a:pt x="13310" y="39930"/>
                </a:cubicBezTo>
                <a:lnTo>
                  <a:pt x="146410" y="39930"/>
                </a:lnTo>
                <a:lnTo>
                  <a:pt x="146410" y="13310"/>
                </a:lnTo>
                <a:cubicBezTo>
                  <a:pt x="146410" y="7944"/>
                  <a:pt x="149655" y="3078"/>
                  <a:pt x="154646" y="998"/>
                </a:cubicBezTo>
                <a:cubicBezTo>
                  <a:pt x="159637" y="-1081"/>
                  <a:pt x="165336" y="83"/>
                  <a:pt x="169162" y="3868"/>
                </a:cubicBezTo>
                <a:lnTo>
                  <a:pt x="209092" y="43798"/>
                </a:lnTo>
                <a:cubicBezTo>
                  <a:pt x="214292" y="48998"/>
                  <a:pt x="214292" y="57441"/>
                  <a:pt x="209092" y="62640"/>
                </a:cubicBezTo>
                <a:close/>
                <a:moveTo>
                  <a:pt x="43798" y="209051"/>
                </a:moveTo>
                <a:lnTo>
                  <a:pt x="3868" y="169121"/>
                </a:lnTo>
                <a:cubicBezTo>
                  <a:pt x="-1331" y="163922"/>
                  <a:pt x="-1331" y="155478"/>
                  <a:pt x="3868" y="150279"/>
                </a:cubicBezTo>
                <a:lnTo>
                  <a:pt x="43798" y="110349"/>
                </a:lnTo>
                <a:cubicBezTo>
                  <a:pt x="47625" y="106522"/>
                  <a:pt x="53323" y="105399"/>
                  <a:pt x="58315" y="107479"/>
                </a:cubicBezTo>
                <a:cubicBezTo>
                  <a:pt x="63306" y="109558"/>
                  <a:pt x="66550" y="114425"/>
                  <a:pt x="66550" y="119790"/>
                </a:cubicBezTo>
                <a:lnTo>
                  <a:pt x="66550" y="146410"/>
                </a:lnTo>
                <a:lnTo>
                  <a:pt x="199651" y="146410"/>
                </a:lnTo>
                <a:cubicBezTo>
                  <a:pt x="207013" y="146410"/>
                  <a:pt x="212961" y="152358"/>
                  <a:pt x="212961" y="159721"/>
                </a:cubicBezTo>
                <a:cubicBezTo>
                  <a:pt x="212961" y="167083"/>
                  <a:pt x="207013" y="173031"/>
                  <a:pt x="199651" y="173031"/>
                </a:cubicBezTo>
                <a:lnTo>
                  <a:pt x="66550" y="173031"/>
                </a:lnTo>
                <a:lnTo>
                  <a:pt x="66550" y="199651"/>
                </a:lnTo>
                <a:cubicBezTo>
                  <a:pt x="66550" y="205016"/>
                  <a:pt x="63306" y="209883"/>
                  <a:pt x="58315" y="211962"/>
                </a:cubicBezTo>
                <a:cubicBezTo>
                  <a:pt x="53323" y="214042"/>
                  <a:pt x="47625" y="212878"/>
                  <a:pt x="43798" y="209092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7" name="Text 15"/>
          <p:cNvSpPr/>
          <p:nvPr/>
        </p:nvSpPr>
        <p:spPr>
          <a:xfrm>
            <a:off x="8349279" y="2207693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9279" y="2562628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Convert normalized source data into Fact and Dimension tables (Star Schema model)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84" y="3425119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994" y="3641629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1" name="Shape 19"/>
          <p:cNvSpPr/>
          <p:nvPr/>
        </p:nvSpPr>
        <p:spPr>
          <a:xfrm>
            <a:off x="765771" y="3819096"/>
            <a:ext cx="186341" cy="212961"/>
          </a:xfrm>
          <a:custGeom>
            <a:avLst/>
            <a:gdLst/>
            <a:ahLst/>
            <a:cxnLst/>
            <a:rect l="l" t="t" r="r" b="b"/>
            <a:pathLst>
              <a:path w="186341" h="212961">
                <a:moveTo>
                  <a:pt x="186341" y="85600"/>
                </a:moveTo>
                <a:cubicBezTo>
                  <a:pt x="180185" y="89676"/>
                  <a:pt x="173114" y="92962"/>
                  <a:pt x="165752" y="95583"/>
                </a:cubicBezTo>
                <a:cubicBezTo>
                  <a:pt x="146203" y="102571"/>
                  <a:pt x="120539" y="106480"/>
                  <a:pt x="93170" y="106480"/>
                </a:cubicBezTo>
                <a:cubicBezTo>
                  <a:pt x="65802" y="106480"/>
                  <a:pt x="40097" y="102529"/>
                  <a:pt x="20589" y="95583"/>
                </a:cubicBezTo>
                <a:cubicBezTo>
                  <a:pt x="13268" y="92962"/>
                  <a:pt x="6156" y="89676"/>
                  <a:pt x="0" y="85600"/>
                </a:cubicBezTo>
                <a:lnTo>
                  <a:pt x="0" y="119790"/>
                </a:lnTo>
                <a:cubicBezTo>
                  <a:pt x="0" y="138175"/>
                  <a:pt x="41719" y="153066"/>
                  <a:pt x="93170" y="153066"/>
                </a:cubicBezTo>
                <a:cubicBezTo>
                  <a:pt x="144622" y="153066"/>
                  <a:pt x="186341" y="138175"/>
                  <a:pt x="186341" y="119790"/>
                </a:cubicBezTo>
                <a:lnTo>
                  <a:pt x="186341" y="85600"/>
                </a:lnTo>
                <a:close/>
                <a:moveTo>
                  <a:pt x="186341" y="53240"/>
                </a:moveTo>
                <a:lnTo>
                  <a:pt x="186341" y="33275"/>
                </a:lnTo>
                <a:cubicBezTo>
                  <a:pt x="186341" y="14891"/>
                  <a:pt x="144622" y="0"/>
                  <a:pt x="93170" y="0"/>
                </a:cubicBezTo>
                <a:cubicBezTo>
                  <a:pt x="41719" y="0"/>
                  <a:pt x="0" y="14891"/>
                  <a:pt x="0" y="33275"/>
                </a:cubicBezTo>
                <a:lnTo>
                  <a:pt x="0" y="53240"/>
                </a:lnTo>
                <a:cubicBezTo>
                  <a:pt x="0" y="71625"/>
                  <a:pt x="41719" y="86515"/>
                  <a:pt x="93170" y="86515"/>
                </a:cubicBezTo>
                <a:cubicBezTo>
                  <a:pt x="144622" y="86515"/>
                  <a:pt x="186341" y="71625"/>
                  <a:pt x="186341" y="53240"/>
                </a:cubicBezTo>
                <a:close/>
                <a:moveTo>
                  <a:pt x="165752" y="162133"/>
                </a:moveTo>
                <a:cubicBezTo>
                  <a:pt x="146244" y="169079"/>
                  <a:pt x="120581" y="173031"/>
                  <a:pt x="93170" y="173031"/>
                </a:cubicBezTo>
                <a:cubicBezTo>
                  <a:pt x="65760" y="173031"/>
                  <a:pt x="40097" y="169079"/>
                  <a:pt x="20589" y="162133"/>
                </a:cubicBezTo>
                <a:cubicBezTo>
                  <a:pt x="13268" y="159513"/>
                  <a:pt x="6156" y="156227"/>
                  <a:pt x="0" y="152150"/>
                </a:cubicBezTo>
                <a:lnTo>
                  <a:pt x="0" y="179686"/>
                </a:lnTo>
                <a:cubicBezTo>
                  <a:pt x="0" y="198070"/>
                  <a:pt x="41719" y="212961"/>
                  <a:pt x="93170" y="212961"/>
                </a:cubicBezTo>
                <a:cubicBezTo>
                  <a:pt x="144622" y="212961"/>
                  <a:pt x="186341" y="198070"/>
                  <a:pt x="186341" y="179686"/>
                </a:cubicBezTo>
                <a:lnTo>
                  <a:pt x="186341" y="152150"/>
                </a:lnTo>
                <a:cubicBezTo>
                  <a:pt x="180185" y="156227"/>
                  <a:pt x="173114" y="159513"/>
                  <a:pt x="165752" y="16213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2" name="Text 20"/>
          <p:cNvSpPr/>
          <p:nvPr/>
        </p:nvSpPr>
        <p:spPr>
          <a:xfrm>
            <a:off x="574994" y="4351498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4994" y="4706433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Store transformed data into PostgreSQL database with optimized schema design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5571" y="3425119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081" y="3641629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6" name="Shape 24"/>
          <p:cNvSpPr/>
          <p:nvPr/>
        </p:nvSpPr>
        <p:spPr>
          <a:xfrm>
            <a:off x="4612928" y="3819096"/>
            <a:ext cx="266201" cy="212961"/>
          </a:xfrm>
          <a:custGeom>
            <a:avLst/>
            <a:gdLst/>
            <a:ahLst/>
            <a:cxnLst/>
            <a:rect l="l" t="t" r="r" b="b"/>
            <a:pathLst>
              <a:path w="266201" h="212961">
                <a:moveTo>
                  <a:pt x="172989" y="87555"/>
                </a:moveTo>
                <a:cubicBezTo>
                  <a:pt x="178063" y="86183"/>
                  <a:pt x="183387" y="88595"/>
                  <a:pt x="185675" y="93295"/>
                </a:cubicBezTo>
                <a:lnTo>
                  <a:pt x="193412" y="108934"/>
                </a:lnTo>
                <a:cubicBezTo>
                  <a:pt x="197696" y="109517"/>
                  <a:pt x="201897" y="110681"/>
                  <a:pt x="205848" y="112303"/>
                </a:cubicBezTo>
                <a:lnTo>
                  <a:pt x="220406" y="102612"/>
                </a:lnTo>
                <a:cubicBezTo>
                  <a:pt x="224773" y="99701"/>
                  <a:pt x="230555" y="100283"/>
                  <a:pt x="234257" y="103985"/>
                </a:cubicBezTo>
                <a:lnTo>
                  <a:pt x="242243" y="111971"/>
                </a:lnTo>
                <a:cubicBezTo>
                  <a:pt x="245945" y="115673"/>
                  <a:pt x="246527" y="121496"/>
                  <a:pt x="243615" y="125822"/>
                </a:cubicBezTo>
                <a:lnTo>
                  <a:pt x="233924" y="140338"/>
                </a:lnTo>
                <a:cubicBezTo>
                  <a:pt x="234714" y="142293"/>
                  <a:pt x="235421" y="144331"/>
                  <a:pt x="236004" y="146452"/>
                </a:cubicBezTo>
                <a:cubicBezTo>
                  <a:pt x="236586" y="148573"/>
                  <a:pt x="236960" y="150653"/>
                  <a:pt x="237252" y="152774"/>
                </a:cubicBezTo>
                <a:lnTo>
                  <a:pt x="252932" y="160511"/>
                </a:lnTo>
                <a:cubicBezTo>
                  <a:pt x="257633" y="162840"/>
                  <a:pt x="260045" y="168164"/>
                  <a:pt x="258672" y="173197"/>
                </a:cubicBezTo>
                <a:lnTo>
                  <a:pt x="255761" y="184095"/>
                </a:lnTo>
                <a:cubicBezTo>
                  <a:pt x="254388" y="189127"/>
                  <a:pt x="249688" y="192538"/>
                  <a:pt x="244447" y="192205"/>
                </a:cubicBezTo>
                <a:lnTo>
                  <a:pt x="226978" y="191082"/>
                </a:lnTo>
                <a:cubicBezTo>
                  <a:pt x="224357" y="194451"/>
                  <a:pt x="221321" y="197571"/>
                  <a:pt x="217869" y="200233"/>
                </a:cubicBezTo>
                <a:lnTo>
                  <a:pt x="218992" y="217661"/>
                </a:lnTo>
                <a:cubicBezTo>
                  <a:pt x="219325" y="222902"/>
                  <a:pt x="215914" y="227643"/>
                  <a:pt x="210881" y="228974"/>
                </a:cubicBezTo>
                <a:lnTo>
                  <a:pt x="199983" y="231886"/>
                </a:lnTo>
                <a:cubicBezTo>
                  <a:pt x="194909" y="233259"/>
                  <a:pt x="189627" y="230846"/>
                  <a:pt x="187297" y="226146"/>
                </a:cubicBezTo>
                <a:lnTo>
                  <a:pt x="179561" y="210507"/>
                </a:lnTo>
                <a:cubicBezTo>
                  <a:pt x="175277" y="209924"/>
                  <a:pt x="171076" y="208760"/>
                  <a:pt x="167124" y="207138"/>
                </a:cubicBezTo>
                <a:lnTo>
                  <a:pt x="152566" y="216829"/>
                </a:lnTo>
                <a:cubicBezTo>
                  <a:pt x="148199" y="219741"/>
                  <a:pt x="142417" y="219158"/>
                  <a:pt x="138716" y="215456"/>
                </a:cubicBezTo>
                <a:lnTo>
                  <a:pt x="130730" y="207470"/>
                </a:lnTo>
                <a:cubicBezTo>
                  <a:pt x="127028" y="203768"/>
                  <a:pt x="126445" y="197987"/>
                  <a:pt x="129357" y="193620"/>
                </a:cubicBezTo>
                <a:lnTo>
                  <a:pt x="139048" y="179062"/>
                </a:lnTo>
                <a:cubicBezTo>
                  <a:pt x="138258" y="177107"/>
                  <a:pt x="137551" y="175069"/>
                  <a:pt x="136969" y="172947"/>
                </a:cubicBezTo>
                <a:cubicBezTo>
                  <a:pt x="136386" y="170826"/>
                  <a:pt x="136012" y="168705"/>
                  <a:pt x="135721" y="166625"/>
                </a:cubicBezTo>
                <a:lnTo>
                  <a:pt x="120040" y="158889"/>
                </a:lnTo>
                <a:cubicBezTo>
                  <a:pt x="115340" y="156559"/>
                  <a:pt x="112969" y="151235"/>
                  <a:pt x="114300" y="146203"/>
                </a:cubicBezTo>
                <a:lnTo>
                  <a:pt x="117212" y="135305"/>
                </a:lnTo>
                <a:cubicBezTo>
                  <a:pt x="118584" y="130272"/>
                  <a:pt x="123284" y="126861"/>
                  <a:pt x="128525" y="127194"/>
                </a:cubicBezTo>
                <a:lnTo>
                  <a:pt x="145953" y="128317"/>
                </a:lnTo>
                <a:cubicBezTo>
                  <a:pt x="148573" y="124948"/>
                  <a:pt x="151610" y="121828"/>
                  <a:pt x="155062" y="119166"/>
                </a:cubicBezTo>
                <a:lnTo>
                  <a:pt x="153939" y="101780"/>
                </a:lnTo>
                <a:cubicBezTo>
                  <a:pt x="153606" y="96539"/>
                  <a:pt x="157017" y="91798"/>
                  <a:pt x="162050" y="90467"/>
                </a:cubicBezTo>
                <a:lnTo>
                  <a:pt x="172947" y="87555"/>
                </a:lnTo>
                <a:close/>
                <a:moveTo>
                  <a:pt x="186507" y="141419"/>
                </a:moveTo>
                <a:cubicBezTo>
                  <a:pt x="176406" y="141431"/>
                  <a:pt x="168215" y="149641"/>
                  <a:pt x="168226" y="159741"/>
                </a:cubicBezTo>
                <a:cubicBezTo>
                  <a:pt x="168238" y="169842"/>
                  <a:pt x="176448" y="178033"/>
                  <a:pt x="186549" y="178022"/>
                </a:cubicBezTo>
                <a:cubicBezTo>
                  <a:pt x="196649" y="178010"/>
                  <a:pt x="204841" y="169800"/>
                  <a:pt x="204829" y="159700"/>
                </a:cubicBezTo>
                <a:cubicBezTo>
                  <a:pt x="204818" y="149599"/>
                  <a:pt x="196608" y="141408"/>
                  <a:pt x="186507" y="141419"/>
                </a:cubicBezTo>
                <a:close/>
                <a:moveTo>
                  <a:pt x="93545" y="-18925"/>
                </a:moveTo>
                <a:lnTo>
                  <a:pt x="104442" y="-16014"/>
                </a:lnTo>
                <a:cubicBezTo>
                  <a:pt x="109475" y="-14641"/>
                  <a:pt x="112886" y="-9899"/>
                  <a:pt x="112553" y="-4700"/>
                </a:cubicBezTo>
                <a:lnTo>
                  <a:pt x="111430" y="12686"/>
                </a:lnTo>
                <a:cubicBezTo>
                  <a:pt x="114882" y="15348"/>
                  <a:pt x="117919" y="18426"/>
                  <a:pt x="120539" y="21837"/>
                </a:cubicBezTo>
                <a:lnTo>
                  <a:pt x="138009" y="20714"/>
                </a:lnTo>
                <a:cubicBezTo>
                  <a:pt x="143208" y="20381"/>
                  <a:pt x="147949" y="23792"/>
                  <a:pt x="149322" y="28825"/>
                </a:cubicBezTo>
                <a:lnTo>
                  <a:pt x="152234" y="39722"/>
                </a:lnTo>
                <a:cubicBezTo>
                  <a:pt x="153565" y="44755"/>
                  <a:pt x="151194" y="50079"/>
                  <a:pt x="146494" y="52408"/>
                </a:cubicBezTo>
                <a:lnTo>
                  <a:pt x="130813" y="60145"/>
                </a:lnTo>
                <a:cubicBezTo>
                  <a:pt x="130522" y="62266"/>
                  <a:pt x="130106" y="64387"/>
                  <a:pt x="129565" y="66467"/>
                </a:cubicBezTo>
                <a:cubicBezTo>
                  <a:pt x="129024" y="68547"/>
                  <a:pt x="128276" y="70626"/>
                  <a:pt x="127485" y="72581"/>
                </a:cubicBezTo>
                <a:lnTo>
                  <a:pt x="137177" y="87139"/>
                </a:lnTo>
                <a:cubicBezTo>
                  <a:pt x="140088" y="91507"/>
                  <a:pt x="139506" y="97288"/>
                  <a:pt x="135804" y="100990"/>
                </a:cubicBezTo>
                <a:lnTo>
                  <a:pt x="127818" y="108976"/>
                </a:lnTo>
                <a:cubicBezTo>
                  <a:pt x="124116" y="112678"/>
                  <a:pt x="118335" y="113260"/>
                  <a:pt x="113967" y="110349"/>
                </a:cubicBezTo>
                <a:lnTo>
                  <a:pt x="99409" y="100657"/>
                </a:lnTo>
                <a:cubicBezTo>
                  <a:pt x="95458" y="102279"/>
                  <a:pt x="91257" y="103444"/>
                  <a:pt x="86973" y="104026"/>
                </a:cubicBezTo>
                <a:lnTo>
                  <a:pt x="79236" y="119666"/>
                </a:lnTo>
                <a:cubicBezTo>
                  <a:pt x="76907" y="124366"/>
                  <a:pt x="71583" y="126737"/>
                  <a:pt x="66550" y="125406"/>
                </a:cubicBezTo>
                <a:lnTo>
                  <a:pt x="55653" y="122494"/>
                </a:lnTo>
                <a:cubicBezTo>
                  <a:pt x="50578" y="121121"/>
                  <a:pt x="47209" y="116380"/>
                  <a:pt x="47542" y="111180"/>
                </a:cubicBezTo>
                <a:lnTo>
                  <a:pt x="48665" y="93753"/>
                </a:lnTo>
                <a:cubicBezTo>
                  <a:pt x="45213" y="91091"/>
                  <a:pt x="42176" y="88013"/>
                  <a:pt x="39556" y="84602"/>
                </a:cubicBezTo>
                <a:lnTo>
                  <a:pt x="22086" y="85725"/>
                </a:lnTo>
                <a:cubicBezTo>
                  <a:pt x="16887" y="86058"/>
                  <a:pt x="12145" y="82647"/>
                  <a:pt x="10773" y="77614"/>
                </a:cubicBezTo>
                <a:lnTo>
                  <a:pt x="7861" y="66717"/>
                </a:lnTo>
                <a:cubicBezTo>
                  <a:pt x="6530" y="61684"/>
                  <a:pt x="8901" y="56360"/>
                  <a:pt x="13601" y="54030"/>
                </a:cubicBezTo>
                <a:lnTo>
                  <a:pt x="29282" y="46294"/>
                </a:lnTo>
                <a:cubicBezTo>
                  <a:pt x="29573" y="44173"/>
                  <a:pt x="29989" y="42093"/>
                  <a:pt x="30530" y="39972"/>
                </a:cubicBezTo>
                <a:cubicBezTo>
                  <a:pt x="31112" y="37850"/>
                  <a:pt x="31778" y="35812"/>
                  <a:pt x="32610" y="33857"/>
                </a:cubicBezTo>
                <a:lnTo>
                  <a:pt x="22918" y="19341"/>
                </a:lnTo>
                <a:cubicBezTo>
                  <a:pt x="20007" y="14974"/>
                  <a:pt x="20589" y="9192"/>
                  <a:pt x="24291" y="5490"/>
                </a:cubicBezTo>
                <a:lnTo>
                  <a:pt x="32277" y="-2496"/>
                </a:lnTo>
                <a:cubicBezTo>
                  <a:pt x="35979" y="-6197"/>
                  <a:pt x="41760" y="-6780"/>
                  <a:pt x="46128" y="-3868"/>
                </a:cubicBezTo>
                <a:lnTo>
                  <a:pt x="60685" y="5823"/>
                </a:lnTo>
                <a:cubicBezTo>
                  <a:pt x="64637" y="4201"/>
                  <a:pt x="68838" y="3036"/>
                  <a:pt x="73122" y="2454"/>
                </a:cubicBezTo>
                <a:lnTo>
                  <a:pt x="80859" y="-13185"/>
                </a:lnTo>
                <a:cubicBezTo>
                  <a:pt x="83188" y="-17885"/>
                  <a:pt x="88470" y="-20256"/>
                  <a:pt x="93545" y="-18925"/>
                </a:cubicBezTo>
                <a:close/>
                <a:moveTo>
                  <a:pt x="80027" y="34939"/>
                </a:moveTo>
                <a:cubicBezTo>
                  <a:pt x="69926" y="34939"/>
                  <a:pt x="61725" y="43139"/>
                  <a:pt x="61725" y="53240"/>
                </a:cubicBezTo>
                <a:cubicBezTo>
                  <a:pt x="61725" y="63341"/>
                  <a:pt x="69926" y="71541"/>
                  <a:pt x="80027" y="71541"/>
                </a:cubicBezTo>
                <a:cubicBezTo>
                  <a:pt x="90127" y="71541"/>
                  <a:pt x="98328" y="63341"/>
                  <a:pt x="98328" y="53240"/>
                </a:cubicBezTo>
                <a:cubicBezTo>
                  <a:pt x="98328" y="43139"/>
                  <a:pt x="90127" y="34939"/>
                  <a:pt x="80027" y="34939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7" name="Text 25"/>
          <p:cNvSpPr/>
          <p:nvPr/>
        </p:nvSpPr>
        <p:spPr>
          <a:xfrm>
            <a:off x="4462081" y="4351498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62081" y="4706433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Orchestrate entire ETL workflow using Apache Airflow for scheduling and monitoring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70" y="3425119"/>
            <a:ext cx="3698417" cy="1959238"/>
          </a:xfrm>
          <a:custGeom>
            <a:avLst/>
            <a:gdLst/>
            <a:ahLst/>
            <a:cxnLst/>
            <a:rect l="l" t="t" r="r" b="b"/>
            <a:pathLst>
              <a:path w="3698417" h="1959238">
                <a:moveTo>
                  <a:pt x="106485" y="0"/>
                </a:moveTo>
                <a:lnTo>
                  <a:pt x="3591933" y="0"/>
                </a:lnTo>
                <a:cubicBezTo>
                  <a:pt x="3650703" y="0"/>
                  <a:pt x="3698417" y="47714"/>
                  <a:pt x="3698417" y="106485"/>
                </a:cubicBezTo>
                <a:lnTo>
                  <a:pt x="3698417" y="1852754"/>
                </a:lnTo>
                <a:cubicBezTo>
                  <a:pt x="3698417" y="1911524"/>
                  <a:pt x="3650703" y="1959238"/>
                  <a:pt x="3591933" y="1959238"/>
                </a:cubicBezTo>
                <a:lnTo>
                  <a:pt x="106485" y="1959238"/>
                </a:lnTo>
                <a:cubicBezTo>
                  <a:pt x="47714" y="1959238"/>
                  <a:pt x="0" y="1911524"/>
                  <a:pt x="0" y="1852754"/>
                </a:cubicBezTo>
                <a:lnTo>
                  <a:pt x="0" y="106485"/>
                </a:lnTo>
                <a:cubicBezTo>
                  <a:pt x="0" y="47714"/>
                  <a:pt x="47714" y="0"/>
                  <a:pt x="106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9279" y="3641629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283948" y="0"/>
                </a:moveTo>
                <a:lnTo>
                  <a:pt x="283948" y="0"/>
                </a:lnTo>
                <a:cubicBezTo>
                  <a:pt x="440663" y="0"/>
                  <a:pt x="567895" y="127233"/>
                  <a:pt x="567895" y="283948"/>
                </a:cubicBezTo>
                <a:lnTo>
                  <a:pt x="567895" y="283948"/>
                </a:lnTo>
                <a:cubicBezTo>
                  <a:pt x="567895" y="440663"/>
                  <a:pt x="440663" y="567895"/>
                  <a:pt x="283948" y="567895"/>
                </a:cubicBezTo>
                <a:lnTo>
                  <a:pt x="283948" y="567895"/>
                </a:lnTo>
                <a:cubicBezTo>
                  <a:pt x="127233" y="567895"/>
                  <a:pt x="0" y="440663"/>
                  <a:pt x="0" y="283948"/>
                </a:cubicBezTo>
                <a:lnTo>
                  <a:pt x="0" y="283948"/>
                </a:lnTo>
                <a:cubicBezTo>
                  <a:pt x="0" y="127233"/>
                  <a:pt x="127233" y="0"/>
                  <a:pt x="283948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1" name="Shape 29"/>
          <p:cNvSpPr/>
          <p:nvPr/>
        </p:nvSpPr>
        <p:spPr>
          <a:xfrm>
            <a:off x="8526747" y="3819096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26620" y="26620"/>
                </a:moveTo>
                <a:cubicBezTo>
                  <a:pt x="26620" y="19258"/>
                  <a:pt x="20672" y="13310"/>
                  <a:pt x="13310" y="13310"/>
                </a:cubicBezTo>
                <a:cubicBezTo>
                  <a:pt x="5948" y="13310"/>
                  <a:pt x="0" y="19258"/>
                  <a:pt x="0" y="26620"/>
                </a:cubicBezTo>
                <a:lnTo>
                  <a:pt x="0" y="166376"/>
                </a:lnTo>
                <a:cubicBezTo>
                  <a:pt x="0" y="184760"/>
                  <a:pt x="14891" y="199651"/>
                  <a:pt x="33275" y="199651"/>
                </a:cubicBezTo>
                <a:lnTo>
                  <a:pt x="199651" y="199651"/>
                </a:lnTo>
                <a:cubicBezTo>
                  <a:pt x="207013" y="199651"/>
                  <a:pt x="212961" y="193703"/>
                  <a:pt x="212961" y="186341"/>
                </a:cubicBezTo>
                <a:cubicBezTo>
                  <a:pt x="212961" y="178978"/>
                  <a:pt x="207013" y="173031"/>
                  <a:pt x="199651" y="173031"/>
                </a:cubicBezTo>
                <a:lnTo>
                  <a:pt x="33275" y="173031"/>
                </a:lnTo>
                <a:cubicBezTo>
                  <a:pt x="29615" y="173031"/>
                  <a:pt x="26620" y="170036"/>
                  <a:pt x="26620" y="166376"/>
                </a:cubicBezTo>
                <a:lnTo>
                  <a:pt x="26620" y="26620"/>
                </a:lnTo>
                <a:close/>
                <a:moveTo>
                  <a:pt x="195741" y="62640"/>
                </a:moveTo>
                <a:cubicBezTo>
                  <a:pt x="200940" y="57441"/>
                  <a:pt x="200940" y="48998"/>
                  <a:pt x="195741" y="43798"/>
                </a:cubicBezTo>
                <a:cubicBezTo>
                  <a:pt x="190542" y="38599"/>
                  <a:pt x="182098" y="38599"/>
                  <a:pt x="176899" y="43798"/>
                </a:cubicBezTo>
                <a:lnTo>
                  <a:pt x="133100" y="87638"/>
                </a:lnTo>
                <a:lnTo>
                  <a:pt x="109226" y="63805"/>
                </a:lnTo>
                <a:cubicBezTo>
                  <a:pt x="104026" y="58606"/>
                  <a:pt x="95583" y="58606"/>
                  <a:pt x="90384" y="63805"/>
                </a:cubicBezTo>
                <a:lnTo>
                  <a:pt x="50453" y="103735"/>
                </a:lnTo>
                <a:cubicBezTo>
                  <a:pt x="45254" y="108934"/>
                  <a:pt x="45254" y="117378"/>
                  <a:pt x="50453" y="122577"/>
                </a:cubicBezTo>
                <a:cubicBezTo>
                  <a:pt x="55653" y="127776"/>
                  <a:pt x="64096" y="127776"/>
                  <a:pt x="69295" y="122577"/>
                </a:cubicBezTo>
                <a:lnTo>
                  <a:pt x="99825" y="92047"/>
                </a:lnTo>
                <a:lnTo>
                  <a:pt x="123700" y="115922"/>
                </a:lnTo>
                <a:cubicBezTo>
                  <a:pt x="128899" y="121121"/>
                  <a:pt x="137343" y="121121"/>
                  <a:pt x="142542" y="115922"/>
                </a:cubicBezTo>
                <a:lnTo>
                  <a:pt x="195782" y="62682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32" name="Text 30"/>
          <p:cNvSpPr/>
          <p:nvPr/>
        </p:nvSpPr>
        <p:spPr>
          <a:xfrm>
            <a:off x="8349279" y="4351498"/>
            <a:ext cx="3354131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Enable BI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49279" y="4706433"/>
            <a:ext cx="3336384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Prepare dataset for future BI integration (Tableau/Power BI) and analytics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8484" y="5675402"/>
            <a:ext cx="5650557" cy="823448"/>
          </a:xfrm>
          <a:custGeom>
            <a:avLst/>
            <a:gdLst/>
            <a:ahLst/>
            <a:cxnLst/>
            <a:rect l="l" t="t" r="r" b="b"/>
            <a:pathLst>
              <a:path w="5650557" h="823448">
                <a:moveTo>
                  <a:pt x="70989" y="0"/>
                </a:moveTo>
                <a:lnTo>
                  <a:pt x="5579568" y="0"/>
                </a:lnTo>
                <a:cubicBezTo>
                  <a:pt x="5618774" y="0"/>
                  <a:pt x="5650557" y="31783"/>
                  <a:pt x="5650557" y="70989"/>
                </a:cubicBezTo>
                <a:lnTo>
                  <a:pt x="5650557" y="752459"/>
                </a:lnTo>
                <a:cubicBezTo>
                  <a:pt x="5650557" y="791665"/>
                  <a:pt x="5618774" y="823448"/>
                  <a:pt x="5579568" y="823448"/>
                </a:cubicBezTo>
                <a:lnTo>
                  <a:pt x="70989" y="823448"/>
                </a:lnTo>
                <a:cubicBezTo>
                  <a:pt x="31809" y="823448"/>
                  <a:pt x="0" y="791639"/>
                  <a:pt x="0" y="752459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994" y="5954026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133100" y="266201"/>
                </a:moveTo>
                <a:cubicBezTo>
                  <a:pt x="206561" y="266201"/>
                  <a:pt x="266201" y="206561"/>
                  <a:pt x="266201" y="133100"/>
                </a:cubicBezTo>
                <a:cubicBezTo>
                  <a:pt x="266201" y="59640"/>
                  <a:pt x="206561" y="0"/>
                  <a:pt x="133100" y="0"/>
                </a:cubicBezTo>
                <a:cubicBezTo>
                  <a:pt x="59640" y="0"/>
                  <a:pt x="0" y="59640"/>
                  <a:pt x="0" y="133100"/>
                </a:cubicBezTo>
                <a:cubicBezTo>
                  <a:pt x="0" y="206561"/>
                  <a:pt x="59640" y="266201"/>
                  <a:pt x="133100" y="266201"/>
                </a:cubicBezTo>
                <a:close/>
                <a:moveTo>
                  <a:pt x="176982" y="110588"/>
                </a:moveTo>
                <a:lnTo>
                  <a:pt x="135388" y="177138"/>
                </a:lnTo>
                <a:cubicBezTo>
                  <a:pt x="133204" y="180621"/>
                  <a:pt x="129461" y="182805"/>
                  <a:pt x="125354" y="183013"/>
                </a:cubicBezTo>
                <a:cubicBezTo>
                  <a:pt x="121246" y="183221"/>
                  <a:pt x="117295" y="181349"/>
                  <a:pt x="114851" y="178022"/>
                </a:cubicBezTo>
                <a:lnTo>
                  <a:pt x="89895" y="144747"/>
                </a:lnTo>
                <a:cubicBezTo>
                  <a:pt x="85735" y="139236"/>
                  <a:pt x="86879" y="131437"/>
                  <a:pt x="92390" y="127277"/>
                </a:cubicBezTo>
                <a:cubicBezTo>
                  <a:pt x="97902" y="123118"/>
                  <a:pt x="105700" y="124262"/>
                  <a:pt x="109860" y="129773"/>
                </a:cubicBezTo>
                <a:lnTo>
                  <a:pt x="123898" y="148490"/>
                </a:lnTo>
                <a:lnTo>
                  <a:pt x="155821" y="97382"/>
                </a:lnTo>
                <a:cubicBezTo>
                  <a:pt x="159461" y="91559"/>
                  <a:pt x="167155" y="89739"/>
                  <a:pt x="173031" y="93430"/>
                </a:cubicBezTo>
                <a:cubicBezTo>
                  <a:pt x="178906" y="97122"/>
                  <a:pt x="180673" y="104765"/>
                  <a:pt x="176982" y="11064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36" name="Text 34"/>
          <p:cNvSpPr/>
          <p:nvPr/>
        </p:nvSpPr>
        <p:spPr>
          <a:xfrm>
            <a:off x="1014225" y="5856419"/>
            <a:ext cx="299919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Reliable Processing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4225" y="6104873"/>
            <a:ext cx="2990323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Ensure repeatable and error-free data pipelines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9171" y="5675402"/>
            <a:ext cx="5650557" cy="823448"/>
          </a:xfrm>
          <a:custGeom>
            <a:avLst/>
            <a:gdLst/>
            <a:ahLst/>
            <a:cxnLst/>
            <a:rect l="l" t="t" r="r" b="b"/>
            <a:pathLst>
              <a:path w="5650557" h="823448">
                <a:moveTo>
                  <a:pt x="70989" y="0"/>
                </a:moveTo>
                <a:lnTo>
                  <a:pt x="5579568" y="0"/>
                </a:lnTo>
                <a:cubicBezTo>
                  <a:pt x="5618774" y="0"/>
                  <a:pt x="5650557" y="31783"/>
                  <a:pt x="5650557" y="70989"/>
                </a:cubicBezTo>
                <a:lnTo>
                  <a:pt x="5650557" y="752459"/>
                </a:lnTo>
                <a:cubicBezTo>
                  <a:pt x="5650557" y="791665"/>
                  <a:pt x="5618774" y="823448"/>
                  <a:pt x="5579568" y="823448"/>
                </a:cubicBezTo>
                <a:lnTo>
                  <a:pt x="70989" y="823448"/>
                </a:lnTo>
                <a:cubicBezTo>
                  <a:pt x="31809" y="823448"/>
                  <a:pt x="0" y="791639"/>
                  <a:pt x="0" y="752459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5681" y="5954026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66550" y="166376"/>
                </a:moveTo>
                <a:lnTo>
                  <a:pt x="12738" y="166376"/>
                </a:lnTo>
                <a:cubicBezTo>
                  <a:pt x="-208" y="166376"/>
                  <a:pt x="-8163" y="152286"/>
                  <a:pt x="-1508" y="141159"/>
                </a:cubicBezTo>
                <a:lnTo>
                  <a:pt x="25996" y="95302"/>
                </a:lnTo>
                <a:cubicBezTo>
                  <a:pt x="30520" y="87763"/>
                  <a:pt x="38630" y="83188"/>
                  <a:pt x="47417" y="83188"/>
                </a:cubicBezTo>
                <a:lnTo>
                  <a:pt x="96810" y="83188"/>
                </a:lnTo>
                <a:cubicBezTo>
                  <a:pt x="136376" y="16170"/>
                  <a:pt x="195387" y="12790"/>
                  <a:pt x="234849" y="18561"/>
                </a:cubicBezTo>
                <a:cubicBezTo>
                  <a:pt x="241505" y="19549"/>
                  <a:pt x="246704" y="24748"/>
                  <a:pt x="247640" y="31351"/>
                </a:cubicBezTo>
                <a:cubicBezTo>
                  <a:pt x="253411" y="70814"/>
                  <a:pt x="250031" y="129825"/>
                  <a:pt x="183013" y="169391"/>
                </a:cubicBezTo>
                <a:lnTo>
                  <a:pt x="183013" y="218784"/>
                </a:lnTo>
                <a:cubicBezTo>
                  <a:pt x="183013" y="227571"/>
                  <a:pt x="178438" y="235681"/>
                  <a:pt x="170899" y="240205"/>
                </a:cubicBezTo>
                <a:lnTo>
                  <a:pt x="125042" y="267709"/>
                </a:lnTo>
                <a:cubicBezTo>
                  <a:pt x="113967" y="274364"/>
                  <a:pt x="99825" y="266357"/>
                  <a:pt x="99825" y="253463"/>
                </a:cubicBezTo>
                <a:lnTo>
                  <a:pt x="99825" y="199651"/>
                </a:lnTo>
                <a:cubicBezTo>
                  <a:pt x="99825" y="181297"/>
                  <a:pt x="84904" y="166376"/>
                  <a:pt x="66550" y="166376"/>
                </a:cubicBezTo>
                <a:lnTo>
                  <a:pt x="66498" y="166376"/>
                </a:lnTo>
                <a:close/>
                <a:moveTo>
                  <a:pt x="207969" y="83188"/>
                </a:moveTo>
                <a:cubicBezTo>
                  <a:pt x="207969" y="69414"/>
                  <a:pt x="196787" y="58231"/>
                  <a:pt x="183013" y="58231"/>
                </a:cubicBezTo>
                <a:cubicBezTo>
                  <a:pt x="169239" y="58231"/>
                  <a:pt x="158057" y="69414"/>
                  <a:pt x="158057" y="83188"/>
                </a:cubicBezTo>
                <a:cubicBezTo>
                  <a:pt x="158057" y="96962"/>
                  <a:pt x="169239" y="108144"/>
                  <a:pt x="183013" y="108144"/>
                </a:cubicBezTo>
                <a:cubicBezTo>
                  <a:pt x="196787" y="108144"/>
                  <a:pt x="207969" y="96962"/>
                  <a:pt x="207969" y="83188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40" name="Text 38"/>
          <p:cNvSpPr/>
          <p:nvPr/>
        </p:nvSpPr>
        <p:spPr>
          <a:xfrm>
            <a:off x="6844912" y="5856419"/>
            <a:ext cx="315891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44912" y="6104873"/>
            <a:ext cx="3150044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 enterprise-grade data engineering workflow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24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&amp; Source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6789420" cy="5151120"/>
          </a:xfrm>
          <a:custGeom>
            <a:avLst/>
            <a:gdLst/>
            <a:ahLst/>
            <a:cxnLst/>
            <a:rect l="l" t="t" r="r" b="b"/>
            <a:pathLst>
              <a:path w="6789420" h="5151120">
                <a:moveTo>
                  <a:pt x="76185" y="0"/>
                </a:moveTo>
                <a:lnTo>
                  <a:pt x="6713235" y="0"/>
                </a:lnTo>
                <a:cubicBezTo>
                  <a:pt x="6755311" y="0"/>
                  <a:pt x="6789420" y="34109"/>
                  <a:pt x="6789420" y="76185"/>
                </a:cubicBezTo>
                <a:lnTo>
                  <a:pt x="6789420" y="5074935"/>
                </a:lnTo>
                <a:cubicBezTo>
                  <a:pt x="6789420" y="5117011"/>
                  <a:pt x="6755311" y="5151120"/>
                  <a:pt x="6713235" y="5151120"/>
                </a:cubicBezTo>
                <a:lnTo>
                  <a:pt x="76185" y="5151120"/>
                </a:lnTo>
                <a:cubicBezTo>
                  <a:pt x="34109" y="5151120"/>
                  <a:pt x="0" y="5117011"/>
                  <a:pt x="0" y="5074935"/>
                </a:cubicBezTo>
                <a:lnTo>
                  <a:pt x="0" y="76185"/>
                </a:lnTo>
                <a:cubicBezTo>
                  <a:pt x="0" y="34137"/>
                  <a:pt x="34137" y="0"/>
                  <a:pt x="76185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739" y="141732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Text 4"/>
          <p:cNvSpPr/>
          <p:nvPr/>
        </p:nvSpPr>
        <p:spPr>
          <a:xfrm>
            <a:off x="779145" y="1379220"/>
            <a:ext cx="633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Northwind Dataset Tables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1020" y="17602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17220" y="18554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9" name="Shape 7"/>
          <p:cNvSpPr/>
          <p:nvPr/>
        </p:nvSpPr>
        <p:spPr>
          <a:xfrm>
            <a:off x="712470" y="196977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0" name="Text 8"/>
          <p:cNvSpPr/>
          <p:nvPr/>
        </p:nvSpPr>
        <p:spPr>
          <a:xfrm>
            <a:off x="1112520" y="18364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2520" y="20650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ID, company, contact, 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4079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7220" y="25031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4" name="Shape 12"/>
          <p:cNvSpPr/>
          <p:nvPr/>
        </p:nvSpPr>
        <p:spPr>
          <a:xfrm>
            <a:off x="741045" y="26174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5" name="Text 13"/>
          <p:cNvSpPr/>
          <p:nvPr/>
        </p:nvSpPr>
        <p:spPr>
          <a:xfrm>
            <a:off x="1112520" y="24841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2520" y="27127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 ID, name, title, hire 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020" y="30556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17220" y="31508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9" name="Shape 17"/>
          <p:cNvSpPr/>
          <p:nvPr/>
        </p:nvSpPr>
        <p:spPr>
          <a:xfrm>
            <a:off x="741045" y="32651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1112520" y="31318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2520" y="33604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ID, name, supplier, category, price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1020" y="37033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17220" y="37985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Shape 22"/>
          <p:cNvSpPr/>
          <p:nvPr/>
        </p:nvSpPr>
        <p:spPr>
          <a:xfrm>
            <a:off x="721995" y="39128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1112520" y="37795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2520" y="40081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Category ID, name, description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1020" y="43510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17220" y="44462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9" name="Shape 27"/>
          <p:cNvSpPr/>
          <p:nvPr/>
        </p:nvSpPr>
        <p:spPr>
          <a:xfrm>
            <a:off x="721995" y="45605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04775" y="9525"/>
                </a:lnTo>
                <a:cubicBezTo>
                  <a:pt x="115282" y="9525"/>
                  <a:pt x="123825" y="18068"/>
                  <a:pt x="123825" y="28575"/>
                </a:cubicBezTo>
                <a:lnTo>
                  <a:pt x="123825" y="38100"/>
                </a:lnTo>
                <a:lnTo>
                  <a:pt x="138916" y="38100"/>
                </a:lnTo>
                <a:cubicBezTo>
                  <a:pt x="143976" y="38100"/>
                  <a:pt x="148828" y="40094"/>
                  <a:pt x="152400" y="43666"/>
                </a:cubicBezTo>
                <a:lnTo>
                  <a:pt x="165884" y="57150"/>
                </a:lnTo>
                <a:cubicBezTo>
                  <a:pt x="169456" y="60722"/>
                  <a:pt x="171450" y="65574"/>
                  <a:pt x="171450" y="70634"/>
                </a:cubicBezTo>
                <a:lnTo>
                  <a:pt x="171450" y="114300"/>
                </a:lnTo>
                <a:cubicBezTo>
                  <a:pt x="171450" y="124807"/>
                  <a:pt x="162907" y="133350"/>
                  <a:pt x="152400" y="133350"/>
                </a:cubicBezTo>
                <a:lnTo>
                  <a:pt x="151418" y="133350"/>
                </a:lnTo>
                <a:cubicBezTo>
                  <a:pt x="148322" y="144334"/>
                  <a:pt x="138202" y="152400"/>
                  <a:pt x="126206" y="152400"/>
                </a:cubicBezTo>
                <a:cubicBezTo>
                  <a:pt x="114211" y="152400"/>
                  <a:pt x="104120" y="144334"/>
                  <a:pt x="100995" y="133350"/>
                </a:cubicBezTo>
                <a:lnTo>
                  <a:pt x="70455" y="133350"/>
                </a:lnTo>
                <a:cubicBezTo>
                  <a:pt x="67360" y="144334"/>
                  <a:pt x="57239" y="152400"/>
                  <a:pt x="45244" y="152400"/>
                </a:cubicBezTo>
                <a:cubicBezTo>
                  <a:pt x="33248" y="152400"/>
                  <a:pt x="23158" y="144334"/>
                  <a:pt x="20032" y="133350"/>
                </a:cubicBezTo>
                <a:lnTo>
                  <a:pt x="19050" y="133350"/>
                </a:lnTo>
                <a:cubicBezTo>
                  <a:pt x="8543" y="133350"/>
                  <a:pt x="0" y="124807"/>
                  <a:pt x="0" y="114300"/>
                </a:cubicBezTo>
                <a:lnTo>
                  <a:pt x="0" y="28575"/>
                </a:lnTo>
                <a:close/>
                <a:moveTo>
                  <a:pt x="152400" y="85725"/>
                </a:moveTo>
                <a:lnTo>
                  <a:pt x="152400" y="70634"/>
                </a:lnTo>
                <a:lnTo>
                  <a:pt x="138916" y="57150"/>
                </a:lnTo>
                <a:lnTo>
                  <a:pt x="123825" y="57150"/>
                </a:lnTo>
                <a:lnTo>
                  <a:pt x="123825" y="85725"/>
                </a:lnTo>
                <a:lnTo>
                  <a:pt x="152400" y="85725"/>
                </a:lnTo>
                <a:close/>
                <a:moveTo>
                  <a:pt x="57150" y="126206"/>
                </a:moveTo>
                <a:cubicBezTo>
                  <a:pt x="57150" y="119635"/>
                  <a:pt x="51815" y="114300"/>
                  <a:pt x="45244" y="114300"/>
                </a:cubicBezTo>
                <a:cubicBezTo>
                  <a:pt x="38673" y="114300"/>
                  <a:pt x="33338" y="119635"/>
                  <a:pt x="33338" y="126206"/>
                </a:cubicBezTo>
                <a:cubicBezTo>
                  <a:pt x="33338" y="132777"/>
                  <a:pt x="38673" y="138113"/>
                  <a:pt x="45244" y="138113"/>
                </a:cubicBezTo>
                <a:cubicBezTo>
                  <a:pt x="51815" y="138113"/>
                  <a:pt x="57150" y="132777"/>
                  <a:pt x="57150" y="126206"/>
                </a:cubicBezTo>
                <a:close/>
                <a:moveTo>
                  <a:pt x="126206" y="138113"/>
                </a:moveTo>
                <a:cubicBezTo>
                  <a:pt x="132777" y="138113"/>
                  <a:pt x="138113" y="132777"/>
                  <a:pt x="138113" y="126206"/>
                </a:cubicBezTo>
                <a:cubicBezTo>
                  <a:pt x="138113" y="119635"/>
                  <a:pt x="132777" y="114300"/>
                  <a:pt x="126206" y="114300"/>
                </a:cubicBezTo>
                <a:cubicBezTo>
                  <a:pt x="119635" y="114300"/>
                  <a:pt x="114300" y="119635"/>
                  <a:pt x="114300" y="126206"/>
                </a:cubicBezTo>
                <a:cubicBezTo>
                  <a:pt x="114300" y="132777"/>
                  <a:pt x="119635" y="138113"/>
                  <a:pt x="126206" y="13811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0" name="Text 28"/>
          <p:cNvSpPr/>
          <p:nvPr/>
        </p:nvSpPr>
        <p:spPr>
          <a:xfrm>
            <a:off x="1112520" y="44272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2520" y="46558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Supplier ID, name, contact, country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1020" y="49987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17220" y="50939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4" name="Shape 32"/>
          <p:cNvSpPr/>
          <p:nvPr/>
        </p:nvSpPr>
        <p:spPr>
          <a:xfrm>
            <a:off x="712470" y="520827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5" name="Text 33"/>
          <p:cNvSpPr/>
          <p:nvPr/>
        </p:nvSpPr>
        <p:spPr>
          <a:xfrm>
            <a:off x="1112520" y="50749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2520" y="53035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 ID, customer ID, employee ID, order date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1020" y="5646420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76198" y="0"/>
                </a:moveTo>
                <a:lnTo>
                  <a:pt x="6400802" y="0"/>
                </a:lnTo>
                <a:cubicBezTo>
                  <a:pt x="6442885" y="0"/>
                  <a:pt x="6477000" y="34115"/>
                  <a:pt x="6477000" y="76198"/>
                </a:cubicBezTo>
                <a:lnTo>
                  <a:pt x="6477000" y="495302"/>
                </a:lnTo>
                <a:cubicBezTo>
                  <a:pt x="6477000" y="537385"/>
                  <a:pt x="6442885" y="571500"/>
                  <a:pt x="6400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17220" y="57416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9" name="Shape 37"/>
          <p:cNvSpPr/>
          <p:nvPr/>
        </p:nvSpPr>
        <p:spPr>
          <a:xfrm>
            <a:off x="731520" y="58559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0" name="Text 38"/>
          <p:cNvSpPr/>
          <p:nvPr/>
        </p:nvSpPr>
        <p:spPr>
          <a:xfrm>
            <a:off x="1112520" y="572262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 Details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2520" y="5951220"/>
            <a:ext cx="589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 ID, product ID, quantity, price, discount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34250" y="1223010"/>
            <a:ext cx="4474845" cy="3836670"/>
          </a:xfrm>
          <a:custGeom>
            <a:avLst/>
            <a:gdLst/>
            <a:ahLst/>
            <a:cxnLst/>
            <a:rect l="l" t="t" r="r" b="b"/>
            <a:pathLst>
              <a:path w="4474845" h="3836670">
                <a:moveTo>
                  <a:pt x="76196" y="0"/>
                </a:moveTo>
                <a:lnTo>
                  <a:pt x="4398649" y="0"/>
                </a:lnTo>
                <a:cubicBezTo>
                  <a:pt x="4440731" y="0"/>
                  <a:pt x="4474845" y="34114"/>
                  <a:pt x="4474845" y="76196"/>
                </a:cubicBezTo>
                <a:lnTo>
                  <a:pt x="4474845" y="3760474"/>
                </a:lnTo>
                <a:cubicBezTo>
                  <a:pt x="4474845" y="3802556"/>
                  <a:pt x="4440731" y="3836670"/>
                  <a:pt x="4398649" y="3836670"/>
                </a:cubicBezTo>
                <a:lnTo>
                  <a:pt x="76196" y="3836670"/>
                </a:lnTo>
                <a:cubicBezTo>
                  <a:pt x="34114" y="3836670"/>
                  <a:pt x="0" y="3802556"/>
                  <a:pt x="0" y="376047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4273" y="14173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4" name="Text 42"/>
          <p:cNvSpPr/>
          <p:nvPr/>
        </p:nvSpPr>
        <p:spPr>
          <a:xfrm>
            <a:off x="7728585" y="1379220"/>
            <a:ext cx="401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 to Destination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90460" y="1798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611904" y="19316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47" name="Text 45"/>
          <p:cNvSpPr/>
          <p:nvPr/>
        </p:nvSpPr>
        <p:spPr>
          <a:xfrm>
            <a:off x="8061960" y="1817370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61960" y="2045970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Multiple CSV files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484995" y="24079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50" name="Shape 48"/>
          <p:cNvSpPr/>
          <p:nvPr/>
        </p:nvSpPr>
        <p:spPr>
          <a:xfrm>
            <a:off x="7490460" y="2788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7635716" y="29222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52" name="Text 50"/>
          <p:cNvSpPr/>
          <p:nvPr/>
        </p:nvSpPr>
        <p:spPr>
          <a:xfrm>
            <a:off x="8061960" y="2807970"/>
            <a:ext cx="179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Destination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61960" y="303657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Data Warehouse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484995" y="33985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55" name="Shape 53"/>
          <p:cNvSpPr/>
          <p:nvPr/>
        </p:nvSpPr>
        <p:spPr>
          <a:xfrm>
            <a:off x="7490460" y="3779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7623810" y="39128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57" name="Text 55"/>
          <p:cNvSpPr/>
          <p:nvPr/>
        </p:nvSpPr>
        <p:spPr>
          <a:xfrm>
            <a:off x="8061960" y="3798570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61960" y="4027170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34250" y="5223510"/>
            <a:ext cx="4474845" cy="1150620"/>
          </a:xfrm>
          <a:custGeom>
            <a:avLst/>
            <a:gdLst/>
            <a:ahLst/>
            <a:cxnLst/>
            <a:rect l="l" t="t" r="r" b="b"/>
            <a:pathLst>
              <a:path w="4474845" h="1150620">
                <a:moveTo>
                  <a:pt x="76206" y="0"/>
                </a:moveTo>
                <a:lnTo>
                  <a:pt x="4398639" y="0"/>
                </a:lnTo>
                <a:cubicBezTo>
                  <a:pt x="4440727" y="0"/>
                  <a:pt x="4474845" y="34118"/>
                  <a:pt x="4474845" y="76206"/>
                </a:cubicBezTo>
                <a:lnTo>
                  <a:pt x="4474845" y="1074414"/>
                </a:lnTo>
                <a:cubicBezTo>
                  <a:pt x="4474845" y="1116502"/>
                  <a:pt x="4440727" y="1150620"/>
                  <a:pt x="4398639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B88A53">
                  <a:alpha val="20000"/>
                </a:srgbClr>
              </a:gs>
            </a:gsLst>
            <a:lin ang="2700000" scaled="1"/>
          </a:gra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04748" y="53987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61" name="Text 59"/>
          <p:cNvSpPr/>
          <p:nvPr/>
        </p:nvSpPr>
        <p:spPr>
          <a:xfrm>
            <a:off x="7890510" y="5379720"/>
            <a:ext cx="126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Schema Design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90460" y="5722620"/>
            <a:ext cx="42386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optimized for analytical queries with central fact table and surrounding dimension tables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20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ETL Architecture &amp; Data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955675"/>
            <a:ext cx="5705475" cy="5538788"/>
          </a:xfrm>
          <a:custGeom>
            <a:avLst/>
            <a:gdLst/>
            <a:ahLst/>
            <a:cxnLst/>
            <a:rect l="l" t="t" r="r" b="b"/>
            <a:pathLst>
              <a:path w="5705475" h="5538788">
                <a:moveTo>
                  <a:pt x="63475" y="0"/>
                </a:moveTo>
                <a:lnTo>
                  <a:pt x="5642000" y="0"/>
                </a:lnTo>
                <a:cubicBezTo>
                  <a:pt x="5677056" y="0"/>
                  <a:pt x="5705475" y="28419"/>
                  <a:pt x="5705475" y="63475"/>
                </a:cubicBezTo>
                <a:lnTo>
                  <a:pt x="5705475" y="5475313"/>
                </a:lnTo>
                <a:cubicBezTo>
                  <a:pt x="5705475" y="5510369"/>
                  <a:pt x="5677056" y="5538788"/>
                  <a:pt x="5642000" y="5538788"/>
                </a:cubicBezTo>
                <a:lnTo>
                  <a:pt x="63475" y="5538788"/>
                </a:lnTo>
                <a:cubicBezTo>
                  <a:pt x="28419" y="5538788"/>
                  <a:pt x="0" y="5510369"/>
                  <a:pt x="0" y="5475313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4662" y="11175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Text 4"/>
          <p:cNvSpPr/>
          <p:nvPr/>
        </p:nvSpPr>
        <p:spPr>
          <a:xfrm>
            <a:off x="688975" y="1085850"/>
            <a:ext cx="5302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Medallion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725" y="1435002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D7F32">
                  <a:alpha val="30000"/>
                </a:srgbClr>
              </a:gs>
              <a:gs pos="100000">
                <a:srgbClr val="CD7F32">
                  <a:alpha val="10000"/>
                </a:srgbClr>
              </a:gs>
            </a:gsLst>
            <a:lin ang="0" scaled="1"/>
          </a:gradFill>
        </p:spPr>
      </p:sp>
      <p:sp>
        <p:nvSpPr>
          <p:cNvPr id="8" name="Shape 6"/>
          <p:cNvSpPr/>
          <p:nvPr/>
        </p:nvSpPr>
        <p:spPr>
          <a:xfrm>
            <a:off x="466725" y="1435002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CD7F32"/>
          </a:solidFill>
        </p:spPr>
      </p:sp>
      <p:sp>
        <p:nvSpPr>
          <p:cNvPr id="9" name="Text 7"/>
          <p:cNvSpPr/>
          <p:nvPr/>
        </p:nvSpPr>
        <p:spPr>
          <a:xfrm>
            <a:off x="577850" y="1530252"/>
            <a:ext cx="357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4740" y="1546026"/>
            <a:ext cx="889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Bronze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850" y="1815901"/>
            <a:ext cx="5286375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Raw data as-is</a:t>
            </a:r>
            <a:r>
              <a:rPr lang="en-US" sz="10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in PostgreSQL. No transformations applied. Maintains data lineage and auditability.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725" y="2323901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0C0C0">
                  <a:alpha val="30000"/>
                </a:srgbClr>
              </a:gs>
              <a:gs pos="100000">
                <a:srgbClr val="C0C0C0">
                  <a:alpha val="10000"/>
                </a:srgbClr>
              </a:gs>
            </a:gsLst>
            <a:lin ang="0" scaled="1"/>
          </a:gradFill>
        </p:spPr>
      </p:sp>
      <p:sp>
        <p:nvSpPr>
          <p:cNvPr id="13" name="Shape 11"/>
          <p:cNvSpPr/>
          <p:nvPr/>
        </p:nvSpPr>
        <p:spPr>
          <a:xfrm>
            <a:off x="466725" y="2323901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</p:sp>
      <p:sp>
        <p:nvSpPr>
          <p:cNvPr id="14" name="Text 12"/>
          <p:cNvSpPr/>
          <p:nvPr/>
        </p:nvSpPr>
        <p:spPr>
          <a:xfrm>
            <a:off x="577850" y="2419151"/>
            <a:ext cx="357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4740" y="2434929"/>
            <a:ext cx="801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Silver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850" y="2704804"/>
            <a:ext cx="5286375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Cleaned and validated</a:t>
            </a:r>
            <a:r>
              <a:rPr lang="en-US" sz="10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data using Python/Pandas. Handles missing values, type conversions, and deduplication.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725" y="3212804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D700">
                  <a:alpha val="30000"/>
                </a:srgbClr>
              </a:gs>
              <a:gs pos="100000">
                <a:srgbClr val="FFD700">
                  <a:alpha val="10000"/>
                </a:srgbClr>
              </a:gs>
            </a:gsLst>
            <a:lin ang="0" scaled="1"/>
          </a:gradFill>
        </p:spPr>
      </p:sp>
      <p:sp>
        <p:nvSpPr>
          <p:cNvPr id="18" name="Shape 16"/>
          <p:cNvSpPr/>
          <p:nvPr/>
        </p:nvSpPr>
        <p:spPr>
          <a:xfrm>
            <a:off x="466725" y="3212804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9" name="Text 17"/>
          <p:cNvSpPr/>
          <p:nvPr/>
        </p:nvSpPr>
        <p:spPr>
          <a:xfrm>
            <a:off x="577850" y="3308054"/>
            <a:ext cx="357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4740" y="3323828"/>
            <a:ext cx="746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Gold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7850" y="3593703"/>
            <a:ext cx="5286375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Business-ready Star Schema</a:t>
            </a:r>
            <a:r>
              <a:rPr lang="en-US" sz="10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in PostgreSQL. Optimized for analytics and BI tools with fact and dimension tables.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10860" y="2260600"/>
            <a:ext cx="5705475" cy="5538788"/>
          </a:xfrm>
          <a:custGeom>
            <a:avLst/>
            <a:gdLst/>
            <a:ahLst/>
            <a:cxnLst/>
            <a:rect l="l" t="t" r="r" b="b"/>
            <a:pathLst>
              <a:path w="5705475" h="5538788">
                <a:moveTo>
                  <a:pt x="63475" y="0"/>
                </a:moveTo>
                <a:lnTo>
                  <a:pt x="5642000" y="0"/>
                </a:lnTo>
                <a:cubicBezTo>
                  <a:pt x="5677056" y="0"/>
                  <a:pt x="5705475" y="28419"/>
                  <a:pt x="5705475" y="63475"/>
                </a:cubicBezTo>
                <a:lnTo>
                  <a:pt x="5705475" y="5475313"/>
                </a:lnTo>
                <a:cubicBezTo>
                  <a:pt x="5705475" y="5510369"/>
                  <a:pt x="5677056" y="5538788"/>
                  <a:pt x="5642000" y="5538788"/>
                </a:cubicBezTo>
                <a:lnTo>
                  <a:pt x="63475" y="5538788"/>
                </a:lnTo>
                <a:cubicBezTo>
                  <a:pt x="28419" y="5538788"/>
                  <a:pt x="0" y="5510369"/>
                  <a:pt x="0" y="5475313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6662" y="11175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Text 22"/>
          <p:cNvSpPr/>
          <p:nvPr/>
        </p:nvSpPr>
        <p:spPr>
          <a:xfrm>
            <a:off x="6530975" y="1085850"/>
            <a:ext cx="5302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8-Step Data 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2850" y="14350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40475" y="153025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27" name="Text 25"/>
          <p:cNvSpPr/>
          <p:nvPr/>
        </p:nvSpPr>
        <p:spPr>
          <a:xfrm>
            <a:off x="6308725" y="153025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89725" y="1482627"/>
            <a:ext cx="506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89725" y="1673127"/>
            <a:ext cx="5056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CSV Files - Raw Northwind dataset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69375" y="19112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1" name="Shape 29"/>
          <p:cNvSpPr/>
          <p:nvPr/>
        </p:nvSpPr>
        <p:spPr>
          <a:xfrm>
            <a:off x="6292850" y="20700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340475" y="216525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33" name="Text 31"/>
          <p:cNvSpPr/>
          <p:nvPr/>
        </p:nvSpPr>
        <p:spPr>
          <a:xfrm>
            <a:off x="6308725" y="216525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89725" y="2117627"/>
            <a:ext cx="506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9725" y="2308127"/>
            <a:ext cx="5056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Python/Pandas - Read and load to Bronze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969375" y="25462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7" name="Shape 35"/>
          <p:cNvSpPr/>
          <p:nvPr/>
        </p:nvSpPr>
        <p:spPr>
          <a:xfrm>
            <a:off x="6296025" y="2708177"/>
            <a:ext cx="5443538" cy="450850"/>
          </a:xfrm>
          <a:custGeom>
            <a:avLst/>
            <a:gdLst/>
            <a:ahLst/>
            <a:cxnLst/>
            <a:rect l="l" t="t" r="r" b="b"/>
            <a:pathLst>
              <a:path w="5443538" h="45085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8" y="28431"/>
                  <a:pt x="5443538" y="63502"/>
                </a:cubicBezTo>
                <a:lnTo>
                  <a:pt x="5443538" y="387348"/>
                </a:lnTo>
                <a:cubicBezTo>
                  <a:pt x="5443538" y="422419"/>
                  <a:pt x="5415107" y="450850"/>
                  <a:pt x="5380035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D7F32">
              <a:alpha val="20000"/>
            </a:srgbClr>
          </a:solidFill>
          <a:ln w="10160">
            <a:solidFill>
              <a:srgbClr val="CD7F3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6825" y="28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D7F32"/>
          </a:solidFill>
        </p:spPr>
      </p:sp>
      <p:sp>
        <p:nvSpPr>
          <p:cNvPr id="39" name="Text 37"/>
          <p:cNvSpPr/>
          <p:nvPr/>
        </p:nvSpPr>
        <p:spPr>
          <a:xfrm>
            <a:off x="6315075" y="28066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96075" y="2758975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Bronze 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96075" y="2949475"/>
            <a:ext cx="504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- Raw data as-is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9375" y="31939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3" name="Shape 41"/>
          <p:cNvSpPr/>
          <p:nvPr/>
        </p:nvSpPr>
        <p:spPr>
          <a:xfrm>
            <a:off x="6292850" y="33527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340475" y="344795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45" name="Text 43"/>
          <p:cNvSpPr/>
          <p:nvPr/>
        </p:nvSpPr>
        <p:spPr>
          <a:xfrm>
            <a:off x="6308725" y="344795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89725" y="3400327"/>
            <a:ext cx="506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89725" y="3590827"/>
            <a:ext cx="5056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Python/Pandas - Data cleaning &amp;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69375" y="38289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9" name="Shape 47"/>
          <p:cNvSpPr/>
          <p:nvPr/>
        </p:nvSpPr>
        <p:spPr>
          <a:xfrm>
            <a:off x="6296025" y="3990877"/>
            <a:ext cx="5443538" cy="450850"/>
          </a:xfrm>
          <a:custGeom>
            <a:avLst/>
            <a:gdLst/>
            <a:ahLst/>
            <a:cxnLst/>
            <a:rect l="l" t="t" r="r" b="b"/>
            <a:pathLst>
              <a:path w="5443538" h="45085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8" y="28431"/>
                  <a:pt x="5443538" y="63502"/>
                </a:cubicBezTo>
                <a:lnTo>
                  <a:pt x="5443538" y="387348"/>
                </a:lnTo>
                <a:cubicBezTo>
                  <a:pt x="5443538" y="422419"/>
                  <a:pt x="5415107" y="450850"/>
                  <a:pt x="5380035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0C0C0">
              <a:alpha val="20000"/>
            </a:srgbClr>
          </a:solidFill>
          <a:ln w="10160">
            <a:solidFill>
              <a:srgbClr val="C0C0C0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6825" y="40893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0C0C0"/>
          </a:solidFill>
        </p:spPr>
      </p:sp>
      <p:sp>
        <p:nvSpPr>
          <p:cNvPr id="51" name="Text 49"/>
          <p:cNvSpPr/>
          <p:nvPr/>
        </p:nvSpPr>
        <p:spPr>
          <a:xfrm>
            <a:off x="6315075" y="4089301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96075" y="4041676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Silver 🥈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96075" y="4232176"/>
            <a:ext cx="504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- Cleaned &amp; validated data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69375" y="447665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55" name="Shape 53"/>
          <p:cNvSpPr/>
          <p:nvPr/>
        </p:nvSpPr>
        <p:spPr>
          <a:xfrm>
            <a:off x="6292850" y="4635403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340475" y="4730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57" name="Text 55"/>
          <p:cNvSpPr/>
          <p:nvPr/>
        </p:nvSpPr>
        <p:spPr>
          <a:xfrm>
            <a:off x="6308725" y="4730653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89725" y="4683028"/>
            <a:ext cx="506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89725" y="4873528"/>
            <a:ext cx="5056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Python/SQL - Star schema transformations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969375" y="511165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61" name="Shape 59"/>
          <p:cNvSpPr/>
          <p:nvPr/>
        </p:nvSpPr>
        <p:spPr>
          <a:xfrm>
            <a:off x="6296025" y="5273578"/>
            <a:ext cx="5443538" cy="450850"/>
          </a:xfrm>
          <a:custGeom>
            <a:avLst/>
            <a:gdLst/>
            <a:ahLst/>
            <a:cxnLst/>
            <a:rect l="l" t="t" r="r" b="b"/>
            <a:pathLst>
              <a:path w="5443538" h="45085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8" y="28431"/>
                  <a:pt x="5443538" y="63502"/>
                </a:cubicBezTo>
                <a:lnTo>
                  <a:pt x="5443538" y="387348"/>
                </a:lnTo>
                <a:cubicBezTo>
                  <a:pt x="5443538" y="422419"/>
                  <a:pt x="5415107" y="450850"/>
                  <a:pt x="5380035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  <a:ln w="1016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46825" y="53720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3" name="Text 61"/>
          <p:cNvSpPr/>
          <p:nvPr/>
        </p:nvSpPr>
        <p:spPr>
          <a:xfrm>
            <a:off x="6315075" y="53720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696075" y="5324377"/>
            <a:ext cx="505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Gold 🥇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696075" y="5514877"/>
            <a:ext cx="504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- Business-ready star schema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969375" y="57593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67" name="Shape 65"/>
          <p:cNvSpPr/>
          <p:nvPr/>
        </p:nvSpPr>
        <p:spPr>
          <a:xfrm>
            <a:off x="6292850" y="5918100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340475" y="60133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69" name="Text 67"/>
          <p:cNvSpPr/>
          <p:nvPr/>
        </p:nvSpPr>
        <p:spPr>
          <a:xfrm>
            <a:off x="6308725" y="601335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689725" y="5965725"/>
            <a:ext cx="506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89725" y="6156225"/>
            <a:ext cx="5056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Apache Airflow - Schedule &amp; monitor tasks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33375" y="6559452"/>
            <a:ext cx="11541125" cy="317500"/>
          </a:xfrm>
          <a:custGeom>
            <a:avLst/>
            <a:gdLst/>
            <a:ahLst/>
            <a:cxnLst/>
            <a:rect l="l" t="t" r="r" b="b"/>
            <a:pathLst>
              <a:path w="11541125" h="317500">
                <a:moveTo>
                  <a:pt x="0" y="0"/>
                </a:moveTo>
                <a:lnTo>
                  <a:pt x="11477625" y="0"/>
                </a:lnTo>
                <a:cubicBezTo>
                  <a:pt x="11512672" y="0"/>
                  <a:pt x="11541125" y="28453"/>
                  <a:pt x="11541125" y="63500"/>
                </a:cubicBezTo>
                <a:lnTo>
                  <a:pt x="11541125" y="254000"/>
                </a:lnTo>
                <a:cubicBezTo>
                  <a:pt x="11541125" y="289047"/>
                  <a:pt x="11512672" y="317500"/>
                  <a:pt x="11477625" y="317500"/>
                </a:cubicBez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B88A53">
                  <a:alpha val="20000"/>
                </a:srgbClr>
              </a:gs>
            </a:gsLst>
            <a:lin ang="0" scaled="1"/>
          </a:gradFill>
        </p:spPr>
      </p:sp>
      <p:sp>
        <p:nvSpPr>
          <p:cNvPr id="73" name="Shape 71"/>
          <p:cNvSpPr/>
          <p:nvPr/>
        </p:nvSpPr>
        <p:spPr>
          <a:xfrm>
            <a:off x="333375" y="6559452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74" name="Shape 72"/>
          <p:cNvSpPr/>
          <p:nvPr/>
        </p:nvSpPr>
        <p:spPr>
          <a:xfrm>
            <a:off x="432594" y="66388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75" name="Text 73"/>
          <p:cNvSpPr/>
          <p:nvPr/>
        </p:nvSpPr>
        <p:spPr>
          <a:xfrm>
            <a:off x="706438" y="6622952"/>
            <a:ext cx="908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Orchestration:</a:t>
            </a:r>
            <a:r>
              <a:rPr lang="en-US" sz="10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Apache Airflow manages the entire workflow, handling task dependencies, scheduling, monitoring execution, and managing retries and failure alerts.</a:t>
            </a:r>
            <a:endParaRPr lang="en-US" sz="1600" dirty="0"/>
          </a:p>
        </p:txBody>
      </p:sp>
      <p:pic>
        <p:nvPicPr>
          <p:cNvPr id="79" name="Picture 78" descr="Screenshot 2026-03-10 1413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4213225"/>
            <a:ext cx="5093335" cy="16567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371" y="319371"/>
            <a:ext cx="11617132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20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9371" y="574868"/>
            <a:ext cx="11696974" cy="3193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2565" y="1152930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382" y="1347749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Shape 4"/>
          <p:cNvSpPr/>
          <p:nvPr/>
        </p:nvSpPr>
        <p:spPr>
          <a:xfrm>
            <a:off x="670081" y="1483482"/>
            <a:ext cx="209587" cy="239528"/>
          </a:xfrm>
          <a:custGeom>
            <a:avLst/>
            <a:gdLst/>
            <a:ahLst/>
            <a:cxnLst/>
            <a:rect l="l" t="t" r="r" b="b"/>
            <a:pathLst>
              <a:path w="209587" h="239528">
                <a:moveTo>
                  <a:pt x="205751" y="93800"/>
                </a:moveTo>
                <a:cubicBezTo>
                  <a:pt x="202149" y="79344"/>
                  <a:pt x="195319" y="68443"/>
                  <a:pt x="180769" y="68443"/>
                </a:cubicBezTo>
                <a:lnTo>
                  <a:pt x="162009" y="68443"/>
                </a:lnTo>
                <a:lnTo>
                  <a:pt x="162009" y="90618"/>
                </a:lnTo>
                <a:cubicBezTo>
                  <a:pt x="162009" y="107835"/>
                  <a:pt x="147413" y="122337"/>
                  <a:pt x="130758" y="122337"/>
                </a:cubicBezTo>
                <a:lnTo>
                  <a:pt x="80794" y="122337"/>
                </a:lnTo>
                <a:cubicBezTo>
                  <a:pt x="67133" y="122337"/>
                  <a:pt x="55812" y="134033"/>
                  <a:pt x="55812" y="147740"/>
                </a:cubicBezTo>
                <a:lnTo>
                  <a:pt x="55812" y="195365"/>
                </a:lnTo>
                <a:cubicBezTo>
                  <a:pt x="55812" y="208932"/>
                  <a:pt x="67601" y="216886"/>
                  <a:pt x="80794" y="220769"/>
                </a:cubicBezTo>
                <a:cubicBezTo>
                  <a:pt x="96607" y="225400"/>
                  <a:pt x="111811" y="226242"/>
                  <a:pt x="130758" y="220769"/>
                </a:cubicBezTo>
                <a:cubicBezTo>
                  <a:pt x="143343" y="217119"/>
                  <a:pt x="155740" y="209775"/>
                  <a:pt x="155740" y="195365"/>
                </a:cubicBezTo>
                <a:lnTo>
                  <a:pt x="155740" y="176325"/>
                </a:lnTo>
                <a:lnTo>
                  <a:pt x="105823" y="176325"/>
                </a:lnTo>
                <a:lnTo>
                  <a:pt x="105823" y="169962"/>
                </a:lnTo>
                <a:lnTo>
                  <a:pt x="180769" y="169962"/>
                </a:lnTo>
                <a:cubicBezTo>
                  <a:pt x="195319" y="169962"/>
                  <a:pt x="200699" y="159810"/>
                  <a:pt x="205751" y="144606"/>
                </a:cubicBezTo>
                <a:cubicBezTo>
                  <a:pt x="210991" y="128934"/>
                  <a:pt x="210757" y="113870"/>
                  <a:pt x="205751" y="93800"/>
                </a:cubicBezTo>
                <a:close/>
                <a:moveTo>
                  <a:pt x="133893" y="208044"/>
                </a:moveTo>
                <a:cubicBezTo>
                  <a:pt x="130332" y="208293"/>
                  <a:pt x="126930" y="206535"/>
                  <a:pt x="125073" y="203487"/>
                </a:cubicBezTo>
                <a:cubicBezTo>
                  <a:pt x="123217" y="200438"/>
                  <a:pt x="123217" y="196608"/>
                  <a:pt x="125073" y="193560"/>
                </a:cubicBezTo>
                <a:cubicBezTo>
                  <a:pt x="126930" y="190511"/>
                  <a:pt x="130332" y="188753"/>
                  <a:pt x="133893" y="189003"/>
                </a:cubicBezTo>
                <a:cubicBezTo>
                  <a:pt x="137453" y="188753"/>
                  <a:pt x="140856" y="190511"/>
                  <a:pt x="142712" y="193560"/>
                </a:cubicBezTo>
                <a:cubicBezTo>
                  <a:pt x="144568" y="196608"/>
                  <a:pt x="144568" y="200438"/>
                  <a:pt x="142712" y="203487"/>
                </a:cubicBezTo>
                <a:cubicBezTo>
                  <a:pt x="140856" y="206535"/>
                  <a:pt x="137453" y="208293"/>
                  <a:pt x="133893" y="208044"/>
                </a:cubicBezTo>
                <a:close/>
                <a:moveTo>
                  <a:pt x="78502" y="116068"/>
                </a:moveTo>
                <a:lnTo>
                  <a:pt x="128466" y="116068"/>
                </a:lnTo>
                <a:cubicBezTo>
                  <a:pt x="142360" y="116068"/>
                  <a:pt x="153448" y="104607"/>
                  <a:pt x="153448" y="90665"/>
                </a:cubicBezTo>
                <a:lnTo>
                  <a:pt x="153448" y="42993"/>
                </a:lnTo>
                <a:cubicBezTo>
                  <a:pt x="153448" y="29426"/>
                  <a:pt x="142033" y="19275"/>
                  <a:pt x="128466" y="16982"/>
                </a:cubicBezTo>
                <a:cubicBezTo>
                  <a:pt x="111718" y="14222"/>
                  <a:pt x="93519" y="14362"/>
                  <a:pt x="78502" y="17029"/>
                </a:cubicBezTo>
                <a:cubicBezTo>
                  <a:pt x="57356" y="20772"/>
                  <a:pt x="53520" y="28584"/>
                  <a:pt x="53520" y="43040"/>
                </a:cubicBezTo>
                <a:lnTo>
                  <a:pt x="53520" y="62081"/>
                </a:lnTo>
                <a:lnTo>
                  <a:pt x="103531" y="62081"/>
                </a:lnTo>
                <a:lnTo>
                  <a:pt x="103531" y="68443"/>
                </a:lnTo>
                <a:lnTo>
                  <a:pt x="34760" y="68443"/>
                </a:lnTo>
                <a:cubicBezTo>
                  <a:pt x="20210" y="68443"/>
                  <a:pt x="7485" y="77192"/>
                  <a:pt x="3509" y="93800"/>
                </a:cubicBezTo>
                <a:cubicBezTo>
                  <a:pt x="-1076" y="112840"/>
                  <a:pt x="-1263" y="124723"/>
                  <a:pt x="3509" y="144606"/>
                </a:cubicBezTo>
                <a:cubicBezTo>
                  <a:pt x="7064" y="159389"/>
                  <a:pt x="15532" y="169962"/>
                  <a:pt x="30081" y="169962"/>
                </a:cubicBezTo>
                <a:lnTo>
                  <a:pt x="47251" y="169962"/>
                </a:lnTo>
                <a:lnTo>
                  <a:pt x="47251" y="147132"/>
                </a:lnTo>
                <a:cubicBezTo>
                  <a:pt x="47251" y="130618"/>
                  <a:pt x="61520" y="116068"/>
                  <a:pt x="78502" y="116068"/>
                </a:cubicBezTo>
                <a:close/>
                <a:moveTo>
                  <a:pt x="75414" y="30269"/>
                </a:moveTo>
                <a:cubicBezTo>
                  <a:pt x="80681" y="30269"/>
                  <a:pt x="84958" y="34545"/>
                  <a:pt x="84958" y="39812"/>
                </a:cubicBezTo>
                <a:cubicBezTo>
                  <a:pt x="84958" y="45080"/>
                  <a:pt x="80681" y="49356"/>
                  <a:pt x="75414" y="49356"/>
                </a:cubicBezTo>
                <a:cubicBezTo>
                  <a:pt x="70147" y="49356"/>
                  <a:pt x="65870" y="45080"/>
                  <a:pt x="65870" y="39812"/>
                </a:cubicBezTo>
                <a:cubicBezTo>
                  <a:pt x="65870" y="34545"/>
                  <a:pt x="70147" y="30269"/>
                  <a:pt x="75414" y="30269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7" name="Text 5"/>
          <p:cNvSpPr/>
          <p:nvPr/>
        </p:nvSpPr>
        <p:spPr>
          <a:xfrm>
            <a:off x="517382" y="1986492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7382" y="2273926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ETL Scripting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7382" y="2561360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language for data extraction, transformation logic, and orchestration integration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27079" y="1152930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1896" y="1347749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2" name="Shape 10"/>
          <p:cNvSpPr/>
          <p:nvPr/>
        </p:nvSpPr>
        <p:spPr>
          <a:xfrm>
            <a:off x="4574595" y="1483482"/>
            <a:ext cx="209587" cy="239528"/>
          </a:xfrm>
          <a:custGeom>
            <a:avLst/>
            <a:gdLst/>
            <a:ahLst/>
            <a:cxnLst/>
            <a:rect l="l" t="t" r="r" b="b"/>
            <a:pathLst>
              <a:path w="209587" h="239528">
                <a:moveTo>
                  <a:pt x="119764" y="74853"/>
                </a:moveTo>
                <a:lnTo>
                  <a:pt x="119764" y="119764"/>
                </a:lnTo>
                <a:lnTo>
                  <a:pt x="179646" y="119764"/>
                </a:lnTo>
                <a:lnTo>
                  <a:pt x="179646" y="74853"/>
                </a:lnTo>
                <a:lnTo>
                  <a:pt x="119764" y="74853"/>
                </a:lnTo>
                <a:close/>
                <a:moveTo>
                  <a:pt x="89823" y="74853"/>
                </a:moveTo>
                <a:lnTo>
                  <a:pt x="29941" y="74853"/>
                </a:lnTo>
                <a:lnTo>
                  <a:pt x="29941" y="119764"/>
                </a:lnTo>
                <a:lnTo>
                  <a:pt x="89823" y="119764"/>
                </a:lnTo>
                <a:lnTo>
                  <a:pt x="89823" y="74853"/>
                </a:lnTo>
                <a:close/>
                <a:moveTo>
                  <a:pt x="0" y="149705"/>
                </a:moveTo>
                <a:lnTo>
                  <a:pt x="0" y="44912"/>
                </a:lnTo>
                <a:cubicBezTo>
                  <a:pt x="0" y="28397"/>
                  <a:pt x="13427" y="14971"/>
                  <a:pt x="29941" y="14971"/>
                </a:cubicBezTo>
                <a:lnTo>
                  <a:pt x="179646" y="14971"/>
                </a:lnTo>
                <a:cubicBezTo>
                  <a:pt x="196161" y="14971"/>
                  <a:pt x="209587" y="28397"/>
                  <a:pt x="209587" y="44912"/>
                </a:cubicBezTo>
                <a:lnTo>
                  <a:pt x="209587" y="194617"/>
                </a:lnTo>
                <a:cubicBezTo>
                  <a:pt x="209587" y="211131"/>
                  <a:pt x="196161" y="224558"/>
                  <a:pt x="179646" y="224558"/>
                </a:cubicBezTo>
                <a:lnTo>
                  <a:pt x="29941" y="224558"/>
                </a:lnTo>
                <a:cubicBezTo>
                  <a:pt x="13427" y="224558"/>
                  <a:pt x="0" y="211131"/>
                  <a:pt x="0" y="194617"/>
                </a:cubicBezTo>
                <a:lnTo>
                  <a:pt x="0" y="149705"/>
                </a:lnTo>
                <a:close/>
                <a:moveTo>
                  <a:pt x="179646" y="149705"/>
                </a:moveTo>
                <a:lnTo>
                  <a:pt x="119764" y="149705"/>
                </a:lnTo>
                <a:lnTo>
                  <a:pt x="119764" y="194617"/>
                </a:lnTo>
                <a:lnTo>
                  <a:pt x="179646" y="194617"/>
                </a:lnTo>
                <a:lnTo>
                  <a:pt x="179646" y="149705"/>
                </a:lnTo>
                <a:close/>
                <a:moveTo>
                  <a:pt x="89823" y="194617"/>
                </a:moveTo>
                <a:lnTo>
                  <a:pt x="89823" y="149705"/>
                </a:lnTo>
                <a:lnTo>
                  <a:pt x="29941" y="149705"/>
                </a:lnTo>
                <a:lnTo>
                  <a:pt x="29941" y="194617"/>
                </a:lnTo>
                <a:lnTo>
                  <a:pt x="89823" y="194617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3" name="Text 11"/>
          <p:cNvSpPr/>
          <p:nvPr/>
        </p:nvSpPr>
        <p:spPr>
          <a:xfrm>
            <a:off x="4421896" y="1986492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Pandas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21896" y="2273926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1896" y="2561360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Powerful library for data cleaning, transformation, and analysis operations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1693" y="1152930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6510" y="1347749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8" name="Shape 16"/>
          <p:cNvSpPr/>
          <p:nvPr/>
        </p:nvSpPr>
        <p:spPr>
          <a:xfrm>
            <a:off x="8479209" y="1483482"/>
            <a:ext cx="209587" cy="239528"/>
          </a:xfrm>
          <a:custGeom>
            <a:avLst/>
            <a:gdLst/>
            <a:ahLst/>
            <a:cxnLst/>
            <a:rect l="l" t="t" r="r" b="b"/>
            <a:pathLst>
              <a:path w="209587" h="239528">
                <a:moveTo>
                  <a:pt x="209587" y="96279"/>
                </a:moveTo>
                <a:cubicBezTo>
                  <a:pt x="202664" y="100864"/>
                  <a:pt x="194710" y="104560"/>
                  <a:pt x="186430" y="107507"/>
                </a:cubicBezTo>
                <a:cubicBezTo>
                  <a:pt x="164442" y="115367"/>
                  <a:pt x="135577" y="119764"/>
                  <a:pt x="104794" y="119764"/>
                </a:cubicBezTo>
                <a:cubicBezTo>
                  <a:pt x="74011" y="119764"/>
                  <a:pt x="45099" y="115320"/>
                  <a:pt x="23158" y="107507"/>
                </a:cubicBezTo>
                <a:cubicBezTo>
                  <a:pt x="14924" y="104560"/>
                  <a:pt x="6924" y="100864"/>
                  <a:pt x="0" y="96279"/>
                </a:cubicBezTo>
                <a:lnTo>
                  <a:pt x="0" y="134735"/>
                </a:lnTo>
                <a:cubicBezTo>
                  <a:pt x="0" y="155413"/>
                  <a:pt x="46923" y="172161"/>
                  <a:pt x="104794" y="172161"/>
                </a:cubicBezTo>
                <a:cubicBezTo>
                  <a:pt x="162664" y="172161"/>
                  <a:pt x="209587" y="155413"/>
                  <a:pt x="209587" y="134735"/>
                </a:cubicBezTo>
                <a:lnTo>
                  <a:pt x="209587" y="96279"/>
                </a:lnTo>
                <a:close/>
                <a:moveTo>
                  <a:pt x="209587" y="59882"/>
                </a:moveTo>
                <a:lnTo>
                  <a:pt x="209587" y="37426"/>
                </a:lnTo>
                <a:cubicBezTo>
                  <a:pt x="209587" y="16748"/>
                  <a:pt x="162664" y="0"/>
                  <a:pt x="104794" y="0"/>
                </a:cubicBezTo>
                <a:cubicBezTo>
                  <a:pt x="46923" y="0"/>
                  <a:pt x="0" y="16748"/>
                  <a:pt x="0" y="37426"/>
                </a:cubicBezTo>
                <a:lnTo>
                  <a:pt x="0" y="59882"/>
                </a:lnTo>
                <a:cubicBezTo>
                  <a:pt x="0" y="80560"/>
                  <a:pt x="46923" y="97308"/>
                  <a:pt x="104794" y="97308"/>
                </a:cubicBezTo>
                <a:cubicBezTo>
                  <a:pt x="162664" y="97308"/>
                  <a:pt x="209587" y="80560"/>
                  <a:pt x="209587" y="59882"/>
                </a:cubicBezTo>
                <a:close/>
                <a:moveTo>
                  <a:pt x="186430" y="182360"/>
                </a:moveTo>
                <a:cubicBezTo>
                  <a:pt x="164489" y="190173"/>
                  <a:pt x="135624" y="194617"/>
                  <a:pt x="104794" y="194617"/>
                </a:cubicBezTo>
                <a:cubicBezTo>
                  <a:pt x="73964" y="194617"/>
                  <a:pt x="45099" y="190173"/>
                  <a:pt x="23158" y="182360"/>
                </a:cubicBezTo>
                <a:cubicBezTo>
                  <a:pt x="14924" y="179412"/>
                  <a:pt x="6924" y="175717"/>
                  <a:pt x="0" y="171132"/>
                </a:cubicBezTo>
                <a:lnTo>
                  <a:pt x="0" y="202102"/>
                </a:lnTo>
                <a:cubicBezTo>
                  <a:pt x="0" y="222780"/>
                  <a:pt x="46923" y="239528"/>
                  <a:pt x="104794" y="239528"/>
                </a:cubicBezTo>
                <a:cubicBezTo>
                  <a:pt x="162664" y="239528"/>
                  <a:pt x="209587" y="222780"/>
                  <a:pt x="209587" y="202102"/>
                </a:cubicBezTo>
                <a:lnTo>
                  <a:pt x="209587" y="171132"/>
                </a:lnTo>
                <a:cubicBezTo>
                  <a:pt x="202664" y="175717"/>
                  <a:pt x="194710" y="179412"/>
                  <a:pt x="186430" y="18236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9" name="Text 17"/>
          <p:cNvSpPr/>
          <p:nvPr/>
        </p:nvSpPr>
        <p:spPr>
          <a:xfrm>
            <a:off x="8326510" y="1986492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SQLAlchemy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6510" y="2273926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Database 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6510" y="2561360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SQL toolkit for database interaction and connection management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2565" y="3337431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382" y="3532246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Shape 22"/>
          <p:cNvSpPr/>
          <p:nvPr/>
        </p:nvSpPr>
        <p:spPr>
          <a:xfrm>
            <a:off x="670081" y="3667979"/>
            <a:ext cx="209587" cy="239528"/>
          </a:xfrm>
          <a:custGeom>
            <a:avLst/>
            <a:gdLst/>
            <a:ahLst/>
            <a:cxnLst/>
            <a:rect l="l" t="t" r="r" b="b"/>
            <a:pathLst>
              <a:path w="209587" h="239528">
                <a:moveTo>
                  <a:pt x="29941" y="14971"/>
                </a:moveTo>
                <a:cubicBezTo>
                  <a:pt x="13427" y="14971"/>
                  <a:pt x="0" y="28397"/>
                  <a:pt x="0" y="44912"/>
                </a:cubicBezTo>
                <a:lnTo>
                  <a:pt x="0" y="74853"/>
                </a:lnTo>
                <a:cubicBezTo>
                  <a:pt x="0" y="91367"/>
                  <a:pt x="13427" y="104794"/>
                  <a:pt x="29941" y="104794"/>
                </a:cubicBezTo>
                <a:lnTo>
                  <a:pt x="179646" y="104794"/>
                </a:lnTo>
                <a:cubicBezTo>
                  <a:pt x="196161" y="104794"/>
                  <a:pt x="209587" y="91367"/>
                  <a:pt x="209587" y="74853"/>
                </a:cubicBezTo>
                <a:lnTo>
                  <a:pt x="209587" y="44912"/>
                </a:lnTo>
                <a:cubicBezTo>
                  <a:pt x="209587" y="28397"/>
                  <a:pt x="196161" y="14971"/>
                  <a:pt x="179646" y="14971"/>
                </a:cubicBezTo>
                <a:lnTo>
                  <a:pt x="29941" y="14971"/>
                </a:lnTo>
                <a:close/>
                <a:moveTo>
                  <a:pt x="130992" y="48654"/>
                </a:moveTo>
                <a:cubicBezTo>
                  <a:pt x="137189" y="48654"/>
                  <a:pt x="142220" y="53685"/>
                  <a:pt x="142220" y="59882"/>
                </a:cubicBezTo>
                <a:cubicBezTo>
                  <a:pt x="142220" y="66079"/>
                  <a:pt x="137189" y="71110"/>
                  <a:pt x="130992" y="71110"/>
                </a:cubicBezTo>
                <a:cubicBezTo>
                  <a:pt x="124795" y="71110"/>
                  <a:pt x="119764" y="66079"/>
                  <a:pt x="119764" y="59882"/>
                </a:cubicBezTo>
                <a:cubicBezTo>
                  <a:pt x="119764" y="53685"/>
                  <a:pt x="124795" y="48654"/>
                  <a:pt x="130992" y="48654"/>
                </a:cubicBezTo>
                <a:close/>
                <a:moveTo>
                  <a:pt x="157191" y="59882"/>
                </a:moveTo>
                <a:cubicBezTo>
                  <a:pt x="157191" y="53685"/>
                  <a:pt x="162222" y="48654"/>
                  <a:pt x="168418" y="48654"/>
                </a:cubicBezTo>
                <a:cubicBezTo>
                  <a:pt x="174615" y="48654"/>
                  <a:pt x="179646" y="53685"/>
                  <a:pt x="179646" y="59882"/>
                </a:cubicBezTo>
                <a:cubicBezTo>
                  <a:pt x="179646" y="66079"/>
                  <a:pt x="174615" y="71110"/>
                  <a:pt x="168418" y="71110"/>
                </a:cubicBezTo>
                <a:cubicBezTo>
                  <a:pt x="162222" y="71110"/>
                  <a:pt x="157191" y="66079"/>
                  <a:pt x="157191" y="59882"/>
                </a:cubicBezTo>
                <a:close/>
                <a:moveTo>
                  <a:pt x="29941" y="134735"/>
                </a:moveTo>
                <a:cubicBezTo>
                  <a:pt x="13427" y="134735"/>
                  <a:pt x="0" y="148161"/>
                  <a:pt x="0" y="164676"/>
                </a:cubicBezTo>
                <a:lnTo>
                  <a:pt x="0" y="194617"/>
                </a:lnTo>
                <a:cubicBezTo>
                  <a:pt x="0" y="211131"/>
                  <a:pt x="13427" y="224558"/>
                  <a:pt x="29941" y="224558"/>
                </a:cubicBezTo>
                <a:lnTo>
                  <a:pt x="179646" y="224558"/>
                </a:lnTo>
                <a:cubicBezTo>
                  <a:pt x="196161" y="224558"/>
                  <a:pt x="209587" y="211131"/>
                  <a:pt x="209587" y="194617"/>
                </a:cubicBezTo>
                <a:lnTo>
                  <a:pt x="209587" y="164676"/>
                </a:lnTo>
                <a:cubicBezTo>
                  <a:pt x="209587" y="148161"/>
                  <a:pt x="196161" y="134735"/>
                  <a:pt x="179646" y="134735"/>
                </a:cubicBezTo>
                <a:lnTo>
                  <a:pt x="29941" y="134735"/>
                </a:lnTo>
                <a:close/>
                <a:moveTo>
                  <a:pt x="130992" y="168418"/>
                </a:moveTo>
                <a:cubicBezTo>
                  <a:pt x="137189" y="168418"/>
                  <a:pt x="142220" y="173450"/>
                  <a:pt x="142220" y="179646"/>
                </a:cubicBezTo>
                <a:cubicBezTo>
                  <a:pt x="142220" y="185843"/>
                  <a:pt x="137189" y="190874"/>
                  <a:pt x="130992" y="190874"/>
                </a:cubicBezTo>
                <a:cubicBezTo>
                  <a:pt x="124795" y="190874"/>
                  <a:pt x="119764" y="185843"/>
                  <a:pt x="119764" y="179646"/>
                </a:cubicBezTo>
                <a:cubicBezTo>
                  <a:pt x="119764" y="173450"/>
                  <a:pt x="124795" y="168418"/>
                  <a:pt x="130992" y="168418"/>
                </a:cubicBezTo>
                <a:close/>
                <a:moveTo>
                  <a:pt x="157191" y="179646"/>
                </a:moveTo>
                <a:cubicBezTo>
                  <a:pt x="157191" y="173450"/>
                  <a:pt x="162222" y="168418"/>
                  <a:pt x="168418" y="168418"/>
                </a:cubicBezTo>
                <a:cubicBezTo>
                  <a:pt x="174615" y="168418"/>
                  <a:pt x="179646" y="173450"/>
                  <a:pt x="179646" y="179646"/>
                </a:cubicBezTo>
                <a:cubicBezTo>
                  <a:pt x="179646" y="185843"/>
                  <a:pt x="174615" y="190874"/>
                  <a:pt x="168418" y="190874"/>
                </a:cubicBezTo>
                <a:cubicBezTo>
                  <a:pt x="162222" y="190874"/>
                  <a:pt x="157191" y="185843"/>
                  <a:pt x="157191" y="179646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517382" y="4170989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7382" y="4458423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7382" y="4745857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Open-source relational database for storing structured data warehouse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7079" y="3337431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1896" y="3532246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0" name="Shape 28"/>
          <p:cNvSpPr/>
          <p:nvPr/>
        </p:nvSpPr>
        <p:spPr>
          <a:xfrm>
            <a:off x="4559624" y="3667979"/>
            <a:ext cx="239528" cy="239528"/>
          </a:xfrm>
          <a:custGeom>
            <a:avLst/>
            <a:gdLst/>
            <a:ahLst/>
            <a:cxnLst/>
            <a:rect l="l" t="t" r="r" b="b"/>
            <a:pathLst>
              <a:path w="239528" h="239528">
                <a:moveTo>
                  <a:pt x="134735" y="14971"/>
                </a:moveTo>
                <a:cubicBezTo>
                  <a:pt x="134735" y="23251"/>
                  <a:pt x="141425" y="29941"/>
                  <a:pt x="149705" y="29941"/>
                </a:cubicBezTo>
                <a:lnTo>
                  <a:pt x="168418" y="29941"/>
                </a:lnTo>
                <a:cubicBezTo>
                  <a:pt x="174641" y="29941"/>
                  <a:pt x="179646" y="34947"/>
                  <a:pt x="179646" y="41169"/>
                </a:cubicBezTo>
                <a:cubicBezTo>
                  <a:pt x="179646" y="47391"/>
                  <a:pt x="174641" y="52397"/>
                  <a:pt x="168418" y="52397"/>
                </a:cubicBezTo>
                <a:lnTo>
                  <a:pt x="14971" y="52397"/>
                </a:lnTo>
                <a:cubicBezTo>
                  <a:pt x="6690" y="52397"/>
                  <a:pt x="0" y="59087"/>
                  <a:pt x="0" y="67367"/>
                </a:cubicBezTo>
                <a:cubicBezTo>
                  <a:pt x="0" y="75648"/>
                  <a:pt x="6690" y="82338"/>
                  <a:pt x="14971" y="82338"/>
                </a:cubicBezTo>
                <a:lnTo>
                  <a:pt x="168418" y="82338"/>
                </a:lnTo>
                <a:cubicBezTo>
                  <a:pt x="191155" y="82338"/>
                  <a:pt x="209587" y="63905"/>
                  <a:pt x="209587" y="41169"/>
                </a:cubicBezTo>
                <a:cubicBezTo>
                  <a:pt x="209587" y="18432"/>
                  <a:pt x="191155" y="0"/>
                  <a:pt x="168418" y="0"/>
                </a:cubicBezTo>
                <a:lnTo>
                  <a:pt x="149705" y="0"/>
                </a:lnTo>
                <a:cubicBezTo>
                  <a:pt x="141425" y="0"/>
                  <a:pt x="134735" y="6690"/>
                  <a:pt x="134735" y="14971"/>
                </a:cubicBezTo>
                <a:close/>
                <a:moveTo>
                  <a:pt x="164676" y="179646"/>
                </a:moveTo>
                <a:cubicBezTo>
                  <a:pt x="164676" y="187927"/>
                  <a:pt x="171366" y="194617"/>
                  <a:pt x="179646" y="194617"/>
                </a:cubicBezTo>
                <a:lnTo>
                  <a:pt x="194617" y="194617"/>
                </a:lnTo>
                <a:cubicBezTo>
                  <a:pt x="219412" y="194617"/>
                  <a:pt x="239528" y="174500"/>
                  <a:pt x="239528" y="149705"/>
                </a:cubicBezTo>
                <a:cubicBezTo>
                  <a:pt x="239528" y="124910"/>
                  <a:pt x="219412" y="104794"/>
                  <a:pt x="194617" y="104794"/>
                </a:cubicBezTo>
                <a:lnTo>
                  <a:pt x="14971" y="104794"/>
                </a:lnTo>
                <a:cubicBezTo>
                  <a:pt x="6690" y="104794"/>
                  <a:pt x="0" y="111484"/>
                  <a:pt x="0" y="119764"/>
                </a:cubicBezTo>
                <a:cubicBezTo>
                  <a:pt x="0" y="128045"/>
                  <a:pt x="6690" y="134735"/>
                  <a:pt x="14971" y="134735"/>
                </a:cubicBezTo>
                <a:lnTo>
                  <a:pt x="194617" y="134735"/>
                </a:lnTo>
                <a:cubicBezTo>
                  <a:pt x="202897" y="134735"/>
                  <a:pt x="209587" y="141425"/>
                  <a:pt x="209587" y="149705"/>
                </a:cubicBezTo>
                <a:cubicBezTo>
                  <a:pt x="209587" y="157986"/>
                  <a:pt x="202897" y="164676"/>
                  <a:pt x="194617" y="164676"/>
                </a:cubicBezTo>
                <a:lnTo>
                  <a:pt x="179646" y="164676"/>
                </a:lnTo>
                <a:cubicBezTo>
                  <a:pt x="171366" y="164676"/>
                  <a:pt x="164676" y="171366"/>
                  <a:pt x="164676" y="179646"/>
                </a:cubicBezTo>
                <a:close/>
                <a:moveTo>
                  <a:pt x="59882" y="239528"/>
                </a:moveTo>
                <a:lnTo>
                  <a:pt x="78595" y="239528"/>
                </a:lnTo>
                <a:cubicBezTo>
                  <a:pt x="101332" y="239528"/>
                  <a:pt x="119764" y="221096"/>
                  <a:pt x="119764" y="198360"/>
                </a:cubicBezTo>
                <a:cubicBezTo>
                  <a:pt x="119764" y="175623"/>
                  <a:pt x="101332" y="157191"/>
                  <a:pt x="78595" y="157191"/>
                </a:cubicBezTo>
                <a:lnTo>
                  <a:pt x="14971" y="157191"/>
                </a:lnTo>
                <a:cubicBezTo>
                  <a:pt x="6690" y="157191"/>
                  <a:pt x="0" y="163881"/>
                  <a:pt x="0" y="172161"/>
                </a:cubicBezTo>
                <a:cubicBezTo>
                  <a:pt x="0" y="180442"/>
                  <a:pt x="6690" y="187132"/>
                  <a:pt x="14971" y="187132"/>
                </a:cubicBezTo>
                <a:lnTo>
                  <a:pt x="78595" y="187132"/>
                </a:lnTo>
                <a:cubicBezTo>
                  <a:pt x="84817" y="187132"/>
                  <a:pt x="89823" y="192137"/>
                  <a:pt x="89823" y="198360"/>
                </a:cubicBezTo>
                <a:cubicBezTo>
                  <a:pt x="89823" y="204582"/>
                  <a:pt x="84817" y="209587"/>
                  <a:pt x="78595" y="209587"/>
                </a:cubicBezTo>
                <a:lnTo>
                  <a:pt x="59882" y="209587"/>
                </a:lnTo>
                <a:cubicBezTo>
                  <a:pt x="51602" y="209587"/>
                  <a:pt x="44912" y="216277"/>
                  <a:pt x="44912" y="224558"/>
                </a:cubicBezTo>
                <a:cubicBezTo>
                  <a:pt x="44912" y="232839"/>
                  <a:pt x="51602" y="239528"/>
                  <a:pt x="59882" y="23952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1" name="Text 29"/>
          <p:cNvSpPr/>
          <p:nvPr/>
        </p:nvSpPr>
        <p:spPr>
          <a:xfrm>
            <a:off x="4421896" y="4170989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21896" y="4458423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Workflow Orchestration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21896" y="4745857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Platform to programmatically author, schedule, and monitor workflows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1693" y="3337431"/>
            <a:ext cx="3735048" cy="2018427"/>
          </a:xfrm>
          <a:custGeom>
            <a:avLst/>
            <a:gdLst/>
            <a:ahLst/>
            <a:cxnLst/>
            <a:rect l="l" t="t" r="r" b="b"/>
            <a:pathLst>
              <a:path w="3735048" h="2018427">
                <a:moveTo>
                  <a:pt x="95815" y="0"/>
                </a:moveTo>
                <a:lnTo>
                  <a:pt x="3639233" y="0"/>
                </a:lnTo>
                <a:cubicBezTo>
                  <a:pt x="3692150" y="0"/>
                  <a:pt x="3735048" y="42898"/>
                  <a:pt x="3735048" y="95815"/>
                </a:cubicBezTo>
                <a:lnTo>
                  <a:pt x="3735048" y="1922612"/>
                </a:lnTo>
                <a:cubicBezTo>
                  <a:pt x="3735048" y="1975529"/>
                  <a:pt x="3692150" y="2018427"/>
                  <a:pt x="3639233" y="2018427"/>
                </a:cubicBezTo>
                <a:lnTo>
                  <a:pt x="95815" y="2018427"/>
                </a:lnTo>
                <a:cubicBezTo>
                  <a:pt x="42898" y="2018427"/>
                  <a:pt x="0" y="1975529"/>
                  <a:pt x="0" y="1922612"/>
                </a:cubicBezTo>
                <a:lnTo>
                  <a:pt x="0" y="95815"/>
                </a:lnTo>
                <a:cubicBezTo>
                  <a:pt x="0" y="42933"/>
                  <a:pt x="42933" y="0"/>
                  <a:pt x="95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6510" y="3532246"/>
            <a:ext cx="510994" cy="510994"/>
          </a:xfrm>
          <a:custGeom>
            <a:avLst/>
            <a:gdLst/>
            <a:ahLst/>
            <a:cxnLst/>
            <a:rect l="l" t="t" r="r" b="b"/>
            <a:pathLst>
              <a:path w="510994" h="510994">
                <a:moveTo>
                  <a:pt x="255497" y="0"/>
                </a:moveTo>
                <a:lnTo>
                  <a:pt x="255497" y="0"/>
                </a:lnTo>
                <a:cubicBezTo>
                  <a:pt x="396510" y="0"/>
                  <a:pt x="510994" y="114484"/>
                  <a:pt x="510994" y="255497"/>
                </a:cubicBezTo>
                <a:lnTo>
                  <a:pt x="510994" y="255497"/>
                </a:lnTo>
                <a:cubicBezTo>
                  <a:pt x="510994" y="396510"/>
                  <a:pt x="396510" y="510994"/>
                  <a:pt x="255497" y="510994"/>
                </a:cubicBezTo>
                <a:lnTo>
                  <a:pt x="255497" y="510994"/>
                </a:lnTo>
                <a:cubicBezTo>
                  <a:pt x="114484" y="510994"/>
                  <a:pt x="0" y="396510"/>
                  <a:pt x="0" y="255497"/>
                </a:cubicBezTo>
                <a:lnTo>
                  <a:pt x="0" y="255497"/>
                </a:lnTo>
                <a:cubicBezTo>
                  <a:pt x="0" y="114484"/>
                  <a:pt x="114484" y="0"/>
                  <a:pt x="255497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36" name="Shape 34"/>
          <p:cNvSpPr/>
          <p:nvPr/>
        </p:nvSpPr>
        <p:spPr>
          <a:xfrm>
            <a:off x="8449268" y="3667979"/>
            <a:ext cx="269470" cy="239528"/>
          </a:xfrm>
          <a:custGeom>
            <a:avLst/>
            <a:gdLst/>
            <a:ahLst/>
            <a:cxnLst/>
            <a:rect l="l" t="t" r="r" b="b"/>
            <a:pathLst>
              <a:path w="269470" h="239528">
                <a:moveTo>
                  <a:pt x="168793" y="561"/>
                </a:moveTo>
                <a:cubicBezTo>
                  <a:pt x="160840" y="-1731"/>
                  <a:pt x="152559" y="2901"/>
                  <a:pt x="150267" y="10854"/>
                </a:cubicBezTo>
                <a:lnTo>
                  <a:pt x="90385" y="220441"/>
                </a:lnTo>
                <a:cubicBezTo>
                  <a:pt x="88092" y="228394"/>
                  <a:pt x="92724" y="236675"/>
                  <a:pt x="100677" y="238967"/>
                </a:cubicBezTo>
                <a:cubicBezTo>
                  <a:pt x="108630" y="241259"/>
                  <a:pt x="116910" y="236628"/>
                  <a:pt x="119203" y="228675"/>
                </a:cubicBezTo>
                <a:lnTo>
                  <a:pt x="179085" y="19087"/>
                </a:lnTo>
                <a:cubicBezTo>
                  <a:pt x="181377" y="11134"/>
                  <a:pt x="176746" y="2854"/>
                  <a:pt x="168793" y="561"/>
                </a:cubicBezTo>
                <a:close/>
                <a:moveTo>
                  <a:pt x="199014" y="64233"/>
                </a:moveTo>
                <a:cubicBezTo>
                  <a:pt x="193167" y="70081"/>
                  <a:pt x="193167" y="79578"/>
                  <a:pt x="199014" y="85426"/>
                </a:cubicBezTo>
                <a:lnTo>
                  <a:pt x="233353" y="119764"/>
                </a:lnTo>
                <a:lnTo>
                  <a:pt x="199014" y="154103"/>
                </a:lnTo>
                <a:cubicBezTo>
                  <a:pt x="193167" y="159951"/>
                  <a:pt x="193167" y="169448"/>
                  <a:pt x="199014" y="175296"/>
                </a:cubicBezTo>
                <a:cubicBezTo>
                  <a:pt x="204862" y="181143"/>
                  <a:pt x="214359" y="181143"/>
                  <a:pt x="220207" y="175296"/>
                </a:cubicBezTo>
                <a:lnTo>
                  <a:pt x="265119" y="130384"/>
                </a:lnTo>
                <a:cubicBezTo>
                  <a:pt x="270967" y="124536"/>
                  <a:pt x="270967" y="115039"/>
                  <a:pt x="265119" y="109191"/>
                </a:cubicBezTo>
                <a:lnTo>
                  <a:pt x="220207" y="64280"/>
                </a:lnTo>
                <a:cubicBezTo>
                  <a:pt x="214359" y="58432"/>
                  <a:pt x="204862" y="58432"/>
                  <a:pt x="199014" y="64280"/>
                </a:cubicBezTo>
                <a:close/>
                <a:moveTo>
                  <a:pt x="70502" y="64233"/>
                </a:moveTo>
                <a:cubicBezTo>
                  <a:pt x="64654" y="58385"/>
                  <a:pt x="55157" y="58385"/>
                  <a:pt x="49309" y="64233"/>
                </a:cubicBezTo>
                <a:lnTo>
                  <a:pt x="4398" y="109145"/>
                </a:lnTo>
                <a:cubicBezTo>
                  <a:pt x="-1450" y="114992"/>
                  <a:pt x="-1450" y="124489"/>
                  <a:pt x="4398" y="130337"/>
                </a:cubicBezTo>
                <a:lnTo>
                  <a:pt x="49309" y="175249"/>
                </a:lnTo>
                <a:cubicBezTo>
                  <a:pt x="55157" y="181097"/>
                  <a:pt x="64654" y="181097"/>
                  <a:pt x="70502" y="175249"/>
                </a:cubicBezTo>
                <a:cubicBezTo>
                  <a:pt x="76350" y="169401"/>
                  <a:pt x="76350" y="159904"/>
                  <a:pt x="70502" y="154056"/>
                </a:cubicBezTo>
                <a:lnTo>
                  <a:pt x="36163" y="119764"/>
                </a:lnTo>
                <a:lnTo>
                  <a:pt x="70455" y="85426"/>
                </a:lnTo>
                <a:cubicBezTo>
                  <a:pt x="76303" y="79578"/>
                  <a:pt x="76303" y="70081"/>
                  <a:pt x="70455" y="6423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7" name="Text 35"/>
          <p:cNvSpPr/>
          <p:nvPr/>
        </p:nvSpPr>
        <p:spPr>
          <a:xfrm>
            <a:off x="8326510" y="4170989"/>
            <a:ext cx="3425257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26510" y="4458423"/>
            <a:ext cx="340928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Schema &amp; Queries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26510" y="4745857"/>
            <a:ext cx="3409289" cy="4151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Database &amp; Data Warehouse schema creation, complex transformations, and analytical queries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2565" y="5553869"/>
            <a:ext cx="5691197" cy="772879"/>
          </a:xfrm>
          <a:custGeom>
            <a:avLst/>
            <a:gdLst/>
            <a:ahLst/>
            <a:cxnLst/>
            <a:rect l="l" t="t" r="r" b="b"/>
            <a:pathLst>
              <a:path w="5691197" h="772879">
                <a:moveTo>
                  <a:pt x="63871" y="0"/>
                </a:moveTo>
                <a:lnTo>
                  <a:pt x="5627326" y="0"/>
                </a:lnTo>
                <a:cubicBezTo>
                  <a:pt x="5662601" y="0"/>
                  <a:pt x="5691197" y="28596"/>
                  <a:pt x="5691197" y="63871"/>
                </a:cubicBezTo>
                <a:lnTo>
                  <a:pt x="5691197" y="709008"/>
                </a:lnTo>
                <a:cubicBezTo>
                  <a:pt x="5691197" y="744283"/>
                  <a:pt x="5662601" y="772879"/>
                  <a:pt x="5627326" y="772879"/>
                </a:cubicBezTo>
                <a:lnTo>
                  <a:pt x="63871" y="772879"/>
                </a:lnTo>
                <a:cubicBezTo>
                  <a:pt x="28596" y="772879"/>
                  <a:pt x="0" y="744283"/>
                  <a:pt x="0" y="709008"/>
                </a:cubicBezTo>
                <a:lnTo>
                  <a:pt x="0" y="63871"/>
                </a:lnTo>
                <a:cubicBezTo>
                  <a:pt x="0" y="28619"/>
                  <a:pt x="28619" y="0"/>
                  <a:pt x="6387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5444" y="5716747"/>
            <a:ext cx="447120" cy="447120"/>
          </a:xfrm>
          <a:custGeom>
            <a:avLst/>
            <a:gdLst/>
            <a:ahLst/>
            <a:cxnLst/>
            <a:rect l="l" t="t" r="r" b="b"/>
            <a:pathLst>
              <a:path w="447120" h="447120">
                <a:moveTo>
                  <a:pt x="63876" y="0"/>
                </a:moveTo>
                <a:lnTo>
                  <a:pt x="383244" y="0"/>
                </a:lnTo>
                <a:cubicBezTo>
                  <a:pt x="418522" y="0"/>
                  <a:pt x="447120" y="28598"/>
                  <a:pt x="447120" y="63876"/>
                </a:cubicBezTo>
                <a:lnTo>
                  <a:pt x="447120" y="383244"/>
                </a:lnTo>
                <a:cubicBezTo>
                  <a:pt x="447120" y="418522"/>
                  <a:pt x="418522" y="447120"/>
                  <a:pt x="383244" y="447120"/>
                </a:cubicBezTo>
                <a:lnTo>
                  <a:pt x="63876" y="447120"/>
                </a:lnTo>
                <a:cubicBezTo>
                  <a:pt x="28598" y="447120"/>
                  <a:pt x="0" y="418522"/>
                  <a:pt x="0" y="383244"/>
                </a:cubicBezTo>
                <a:lnTo>
                  <a:pt x="0" y="63876"/>
                </a:lnTo>
                <a:cubicBezTo>
                  <a:pt x="0" y="28598"/>
                  <a:pt x="28598" y="0"/>
                  <a:pt x="63876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589240" y="5844495"/>
            <a:ext cx="239528" cy="191623"/>
          </a:xfrm>
          <a:custGeom>
            <a:avLst/>
            <a:gdLst/>
            <a:ahLst/>
            <a:cxnLst/>
            <a:rect l="l" t="t" r="r" b="b"/>
            <a:pathLst>
              <a:path w="239528" h="191623">
                <a:moveTo>
                  <a:pt x="130955" y="88438"/>
                </a:moveTo>
                <a:lnTo>
                  <a:pt x="106216" y="88438"/>
                </a:lnTo>
                <a:lnTo>
                  <a:pt x="106216" y="66207"/>
                </a:lnTo>
                <a:lnTo>
                  <a:pt x="130955" y="66207"/>
                </a:lnTo>
                <a:lnTo>
                  <a:pt x="130955" y="88438"/>
                </a:lnTo>
                <a:close/>
                <a:moveTo>
                  <a:pt x="130955" y="11976"/>
                </a:moveTo>
                <a:lnTo>
                  <a:pt x="106216" y="11976"/>
                </a:lnTo>
                <a:lnTo>
                  <a:pt x="106216" y="34694"/>
                </a:lnTo>
                <a:lnTo>
                  <a:pt x="130955" y="34694"/>
                </a:lnTo>
                <a:lnTo>
                  <a:pt x="130955" y="11976"/>
                </a:lnTo>
                <a:close/>
                <a:moveTo>
                  <a:pt x="160222" y="66170"/>
                </a:moveTo>
                <a:lnTo>
                  <a:pt x="135483" y="66170"/>
                </a:lnTo>
                <a:lnTo>
                  <a:pt x="135483" y="88401"/>
                </a:lnTo>
                <a:lnTo>
                  <a:pt x="160222" y="88401"/>
                </a:lnTo>
                <a:lnTo>
                  <a:pt x="160222" y="66170"/>
                </a:lnTo>
                <a:close/>
                <a:moveTo>
                  <a:pt x="101725" y="39185"/>
                </a:moveTo>
                <a:lnTo>
                  <a:pt x="76986" y="39185"/>
                </a:lnTo>
                <a:lnTo>
                  <a:pt x="76986" y="61679"/>
                </a:lnTo>
                <a:lnTo>
                  <a:pt x="101725" y="61679"/>
                </a:lnTo>
                <a:lnTo>
                  <a:pt x="101725" y="39185"/>
                </a:lnTo>
                <a:close/>
                <a:moveTo>
                  <a:pt x="130955" y="39185"/>
                </a:moveTo>
                <a:lnTo>
                  <a:pt x="106216" y="39185"/>
                </a:lnTo>
                <a:lnTo>
                  <a:pt x="106216" y="61679"/>
                </a:lnTo>
                <a:lnTo>
                  <a:pt x="130955" y="61679"/>
                </a:lnTo>
                <a:lnTo>
                  <a:pt x="130955" y="39185"/>
                </a:lnTo>
                <a:close/>
                <a:moveTo>
                  <a:pt x="234551" y="76612"/>
                </a:moveTo>
                <a:cubicBezTo>
                  <a:pt x="229161" y="72981"/>
                  <a:pt x="216736" y="71671"/>
                  <a:pt x="207192" y="73468"/>
                </a:cubicBezTo>
                <a:cubicBezTo>
                  <a:pt x="205957" y="64486"/>
                  <a:pt x="200942" y="56663"/>
                  <a:pt x="191810" y="49627"/>
                </a:cubicBezTo>
                <a:lnTo>
                  <a:pt x="186570" y="46147"/>
                </a:lnTo>
                <a:lnTo>
                  <a:pt x="183090" y="51386"/>
                </a:lnTo>
                <a:cubicBezTo>
                  <a:pt x="176203" y="61791"/>
                  <a:pt x="174332" y="78932"/>
                  <a:pt x="181705" y="90235"/>
                </a:cubicBezTo>
                <a:cubicBezTo>
                  <a:pt x="178449" y="91994"/>
                  <a:pt x="172049" y="94389"/>
                  <a:pt x="163590" y="94239"/>
                </a:cubicBezTo>
                <a:lnTo>
                  <a:pt x="898" y="94239"/>
                </a:lnTo>
                <a:cubicBezTo>
                  <a:pt x="-2358" y="113252"/>
                  <a:pt x="3069" y="137953"/>
                  <a:pt x="17366" y="154908"/>
                </a:cubicBezTo>
                <a:cubicBezTo>
                  <a:pt x="31251" y="171338"/>
                  <a:pt x="52060" y="179684"/>
                  <a:pt x="79269" y="179684"/>
                </a:cubicBezTo>
                <a:cubicBezTo>
                  <a:pt x="138178" y="179684"/>
                  <a:pt x="181780" y="152550"/>
                  <a:pt x="202177" y="103259"/>
                </a:cubicBezTo>
                <a:cubicBezTo>
                  <a:pt x="210186" y="103409"/>
                  <a:pt x="227477" y="103297"/>
                  <a:pt x="236347" y="86343"/>
                </a:cubicBezTo>
                <a:cubicBezTo>
                  <a:pt x="236909" y="85407"/>
                  <a:pt x="238817" y="81402"/>
                  <a:pt x="239528" y="79943"/>
                </a:cubicBezTo>
                <a:lnTo>
                  <a:pt x="234551" y="76612"/>
                </a:lnTo>
                <a:close/>
                <a:moveTo>
                  <a:pt x="43265" y="66170"/>
                </a:moveTo>
                <a:lnTo>
                  <a:pt x="18563" y="66170"/>
                </a:lnTo>
                <a:lnTo>
                  <a:pt x="18563" y="88401"/>
                </a:lnTo>
                <a:lnTo>
                  <a:pt x="43302" y="88401"/>
                </a:lnTo>
                <a:lnTo>
                  <a:pt x="43302" y="66170"/>
                </a:lnTo>
                <a:lnTo>
                  <a:pt x="43265" y="66170"/>
                </a:lnTo>
                <a:close/>
                <a:moveTo>
                  <a:pt x="72495" y="66170"/>
                </a:moveTo>
                <a:lnTo>
                  <a:pt x="47756" y="66170"/>
                </a:lnTo>
                <a:lnTo>
                  <a:pt x="47756" y="88401"/>
                </a:lnTo>
                <a:lnTo>
                  <a:pt x="72495" y="88401"/>
                </a:lnTo>
                <a:lnTo>
                  <a:pt x="72495" y="66170"/>
                </a:lnTo>
                <a:close/>
                <a:moveTo>
                  <a:pt x="101725" y="66170"/>
                </a:moveTo>
                <a:lnTo>
                  <a:pt x="76986" y="66170"/>
                </a:lnTo>
                <a:lnTo>
                  <a:pt x="76986" y="88401"/>
                </a:lnTo>
                <a:lnTo>
                  <a:pt x="101725" y="88401"/>
                </a:lnTo>
                <a:lnTo>
                  <a:pt x="101725" y="66170"/>
                </a:lnTo>
                <a:close/>
                <a:moveTo>
                  <a:pt x="72495" y="39185"/>
                </a:moveTo>
                <a:lnTo>
                  <a:pt x="47756" y="39185"/>
                </a:lnTo>
                <a:lnTo>
                  <a:pt x="47756" y="61679"/>
                </a:lnTo>
                <a:lnTo>
                  <a:pt x="72495" y="61679"/>
                </a:lnTo>
                <a:lnTo>
                  <a:pt x="72495" y="39185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43" name="Text 41"/>
          <p:cNvSpPr/>
          <p:nvPr/>
        </p:nvSpPr>
        <p:spPr>
          <a:xfrm>
            <a:off x="1060313" y="5732715"/>
            <a:ext cx="2746593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(Optional)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0313" y="5956275"/>
            <a:ext cx="2738609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Containerization for easy setup and deployment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9436" y="5553869"/>
            <a:ext cx="5691197" cy="772879"/>
          </a:xfrm>
          <a:custGeom>
            <a:avLst/>
            <a:gdLst/>
            <a:ahLst/>
            <a:cxnLst/>
            <a:rect l="l" t="t" r="r" b="b"/>
            <a:pathLst>
              <a:path w="5691197" h="772879">
                <a:moveTo>
                  <a:pt x="63871" y="0"/>
                </a:moveTo>
                <a:lnTo>
                  <a:pt x="5627326" y="0"/>
                </a:lnTo>
                <a:cubicBezTo>
                  <a:pt x="5662601" y="0"/>
                  <a:pt x="5691197" y="28596"/>
                  <a:pt x="5691197" y="63871"/>
                </a:cubicBezTo>
                <a:lnTo>
                  <a:pt x="5691197" y="709008"/>
                </a:lnTo>
                <a:cubicBezTo>
                  <a:pt x="5691197" y="744283"/>
                  <a:pt x="5662601" y="772879"/>
                  <a:pt x="5627326" y="772879"/>
                </a:cubicBezTo>
                <a:lnTo>
                  <a:pt x="63871" y="772879"/>
                </a:lnTo>
                <a:cubicBezTo>
                  <a:pt x="28596" y="772879"/>
                  <a:pt x="0" y="744283"/>
                  <a:pt x="0" y="709008"/>
                </a:cubicBezTo>
                <a:lnTo>
                  <a:pt x="0" y="63871"/>
                </a:lnTo>
                <a:cubicBezTo>
                  <a:pt x="0" y="28619"/>
                  <a:pt x="28619" y="0"/>
                  <a:pt x="6387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2315" y="5716747"/>
            <a:ext cx="447120" cy="447120"/>
          </a:xfrm>
          <a:custGeom>
            <a:avLst/>
            <a:gdLst/>
            <a:ahLst/>
            <a:cxnLst/>
            <a:rect l="l" t="t" r="r" b="b"/>
            <a:pathLst>
              <a:path w="447120" h="447120">
                <a:moveTo>
                  <a:pt x="63876" y="0"/>
                </a:moveTo>
                <a:lnTo>
                  <a:pt x="383244" y="0"/>
                </a:lnTo>
                <a:cubicBezTo>
                  <a:pt x="418522" y="0"/>
                  <a:pt x="447120" y="28598"/>
                  <a:pt x="447120" y="63876"/>
                </a:cubicBezTo>
                <a:lnTo>
                  <a:pt x="447120" y="383244"/>
                </a:lnTo>
                <a:cubicBezTo>
                  <a:pt x="447120" y="418522"/>
                  <a:pt x="418522" y="447120"/>
                  <a:pt x="383244" y="447120"/>
                </a:cubicBezTo>
                <a:lnTo>
                  <a:pt x="63876" y="447120"/>
                </a:lnTo>
                <a:cubicBezTo>
                  <a:pt x="28598" y="447120"/>
                  <a:pt x="0" y="418522"/>
                  <a:pt x="0" y="383244"/>
                </a:cubicBezTo>
                <a:lnTo>
                  <a:pt x="0" y="63876"/>
                </a:lnTo>
                <a:cubicBezTo>
                  <a:pt x="0" y="28598"/>
                  <a:pt x="28598" y="0"/>
                  <a:pt x="63876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70064" y="5844495"/>
            <a:ext cx="191623" cy="191623"/>
          </a:xfrm>
          <a:custGeom>
            <a:avLst/>
            <a:gdLst/>
            <a:ahLst/>
            <a:cxnLst/>
            <a:rect l="l" t="t" r="r" b="b"/>
            <a:pathLst>
              <a:path w="191623" h="191623">
                <a:moveTo>
                  <a:pt x="11976" y="11976"/>
                </a:moveTo>
                <a:cubicBezTo>
                  <a:pt x="18601" y="11976"/>
                  <a:pt x="23953" y="17328"/>
                  <a:pt x="23953" y="23953"/>
                </a:cubicBezTo>
                <a:lnTo>
                  <a:pt x="23953" y="149705"/>
                </a:lnTo>
                <a:cubicBezTo>
                  <a:pt x="23953" y="152999"/>
                  <a:pt x="26648" y="155694"/>
                  <a:pt x="29941" y="155694"/>
                </a:cubicBezTo>
                <a:lnTo>
                  <a:pt x="179646" y="155694"/>
                </a:lnTo>
                <a:cubicBezTo>
                  <a:pt x="186271" y="155694"/>
                  <a:pt x="191623" y="161045"/>
                  <a:pt x="191623" y="167670"/>
                </a:cubicBezTo>
                <a:cubicBezTo>
                  <a:pt x="191623" y="174294"/>
                  <a:pt x="186271" y="179646"/>
                  <a:pt x="179646" y="179646"/>
                </a:cubicBezTo>
                <a:lnTo>
                  <a:pt x="29941" y="179646"/>
                </a:lnTo>
                <a:cubicBezTo>
                  <a:pt x="13399" y="179646"/>
                  <a:pt x="0" y="166248"/>
                  <a:pt x="0" y="149705"/>
                </a:cubicBezTo>
                <a:lnTo>
                  <a:pt x="0" y="23953"/>
                </a:lnTo>
                <a:cubicBezTo>
                  <a:pt x="0" y="17328"/>
                  <a:pt x="5352" y="11976"/>
                  <a:pt x="11976" y="11976"/>
                </a:cubicBezTo>
                <a:close/>
                <a:moveTo>
                  <a:pt x="47906" y="35929"/>
                </a:moveTo>
                <a:cubicBezTo>
                  <a:pt x="47906" y="29305"/>
                  <a:pt x="53258" y="23953"/>
                  <a:pt x="59882" y="23953"/>
                </a:cubicBezTo>
                <a:lnTo>
                  <a:pt x="131741" y="23953"/>
                </a:lnTo>
                <a:cubicBezTo>
                  <a:pt x="138365" y="23953"/>
                  <a:pt x="143717" y="29305"/>
                  <a:pt x="143717" y="35929"/>
                </a:cubicBezTo>
                <a:cubicBezTo>
                  <a:pt x="143717" y="42554"/>
                  <a:pt x="138365" y="47906"/>
                  <a:pt x="131741" y="47906"/>
                </a:cubicBezTo>
                <a:lnTo>
                  <a:pt x="59882" y="47906"/>
                </a:lnTo>
                <a:cubicBezTo>
                  <a:pt x="53258" y="47906"/>
                  <a:pt x="47906" y="42554"/>
                  <a:pt x="47906" y="35929"/>
                </a:cubicBezTo>
                <a:close/>
                <a:moveTo>
                  <a:pt x="59882" y="65870"/>
                </a:moveTo>
                <a:lnTo>
                  <a:pt x="107788" y="65870"/>
                </a:lnTo>
                <a:cubicBezTo>
                  <a:pt x="114412" y="65870"/>
                  <a:pt x="119764" y="71222"/>
                  <a:pt x="119764" y="77847"/>
                </a:cubicBezTo>
                <a:cubicBezTo>
                  <a:pt x="119764" y="84471"/>
                  <a:pt x="114412" y="89823"/>
                  <a:pt x="107788" y="89823"/>
                </a:cubicBezTo>
                <a:lnTo>
                  <a:pt x="59882" y="89823"/>
                </a:lnTo>
                <a:cubicBezTo>
                  <a:pt x="53258" y="89823"/>
                  <a:pt x="47906" y="84471"/>
                  <a:pt x="47906" y="77847"/>
                </a:cubicBezTo>
                <a:cubicBezTo>
                  <a:pt x="47906" y="71222"/>
                  <a:pt x="53258" y="65870"/>
                  <a:pt x="59882" y="65870"/>
                </a:cubicBezTo>
                <a:close/>
                <a:moveTo>
                  <a:pt x="59882" y="107788"/>
                </a:moveTo>
                <a:lnTo>
                  <a:pt x="155694" y="107788"/>
                </a:lnTo>
                <a:cubicBezTo>
                  <a:pt x="162318" y="107788"/>
                  <a:pt x="167670" y="113140"/>
                  <a:pt x="167670" y="119764"/>
                </a:cubicBezTo>
                <a:cubicBezTo>
                  <a:pt x="167670" y="126389"/>
                  <a:pt x="162318" y="131741"/>
                  <a:pt x="155694" y="131741"/>
                </a:cubicBezTo>
                <a:lnTo>
                  <a:pt x="59882" y="131741"/>
                </a:lnTo>
                <a:cubicBezTo>
                  <a:pt x="53258" y="131741"/>
                  <a:pt x="47906" y="126389"/>
                  <a:pt x="47906" y="119764"/>
                </a:cubicBezTo>
                <a:cubicBezTo>
                  <a:pt x="47906" y="113140"/>
                  <a:pt x="53258" y="107788"/>
                  <a:pt x="59882" y="107788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48" name="Text 46"/>
          <p:cNvSpPr/>
          <p:nvPr/>
        </p:nvSpPr>
        <p:spPr>
          <a:xfrm>
            <a:off x="6917184" y="5732715"/>
            <a:ext cx="3433242" cy="223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BI Integration Ready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17184" y="5956275"/>
            <a:ext cx="3425257" cy="191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Compatible with Tableau, Power BI, and other analytics tools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24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 Database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627370" cy="4351020"/>
          </a:xfrm>
          <a:custGeom>
            <a:avLst/>
            <a:gdLst/>
            <a:ahLst/>
            <a:cxnLst/>
            <a:rect l="l" t="t" r="r" b="b"/>
            <a:pathLst>
              <a:path w="5627370" h="4351020">
                <a:moveTo>
                  <a:pt x="76186" y="0"/>
                </a:moveTo>
                <a:lnTo>
                  <a:pt x="5551184" y="0"/>
                </a:lnTo>
                <a:cubicBezTo>
                  <a:pt x="5593260" y="0"/>
                  <a:pt x="5627370" y="34110"/>
                  <a:pt x="5627370" y="76186"/>
                </a:cubicBezTo>
                <a:lnTo>
                  <a:pt x="5627370" y="4274834"/>
                </a:lnTo>
                <a:cubicBezTo>
                  <a:pt x="5627370" y="4316910"/>
                  <a:pt x="5593260" y="4351020"/>
                  <a:pt x="5551184" y="4351020"/>
                </a:cubicBezTo>
                <a:lnTo>
                  <a:pt x="76186" y="4351020"/>
                </a:lnTo>
                <a:cubicBezTo>
                  <a:pt x="34110" y="4351020"/>
                  <a:pt x="0" y="4316910"/>
                  <a:pt x="0" y="427483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2926" y="141732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6" name="Text 4"/>
          <p:cNvSpPr/>
          <p:nvPr/>
        </p:nvSpPr>
        <p:spPr>
          <a:xfrm>
            <a:off x="779145" y="1379223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Fact Table: fact_sales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1020" y="17602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17220" y="1836423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sales_key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91639" y="1836423"/>
            <a:ext cx="295275" cy="228600"/>
          </a:xfrm>
          <a:custGeom>
            <a:avLst/>
            <a:gdLst/>
            <a:ahLst/>
            <a:cxnLst/>
            <a:rect l="l" t="t" r="r" b="b"/>
            <a:pathLst>
              <a:path w="295275" h="228600">
                <a:moveTo>
                  <a:pt x="38101" y="0"/>
                </a:moveTo>
                <a:lnTo>
                  <a:pt x="257174" y="0"/>
                </a:lnTo>
                <a:cubicBezTo>
                  <a:pt x="278217" y="0"/>
                  <a:pt x="295275" y="17058"/>
                  <a:pt x="295275" y="38101"/>
                </a:cubicBezTo>
                <a:lnTo>
                  <a:pt x="295275" y="190499"/>
                </a:lnTo>
                <a:cubicBezTo>
                  <a:pt x="295275" y="211542"/>
                  <a:pt x="278217" y="228600"/>
                  <a:pt x="2571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10" name="Text 8"/>
          <p:cNvSpPr/>
          <p:nvPr/>
        </p:nvSpPr>
        <p:spPr>
          <a:xfrm>
            <a:off x="5491639" y="1836423"/>
            <a:ext cx="3524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103123"/>
            <a:ext cx="522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Surrogate key - unique identifier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4460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17220" y="2522223"/>
            <a:ext cx="628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order_id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1833" y="2522223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5" name="Text 13"/>
          <p:cNvSpPr/>
          <p:nvPr/>
        </p:nvSpPr>
        <p:spPr>
          <a:xfrm>
            <a:off x="5141833" y="2522223"/>
            <a:ext cx="6953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 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" y="2788923"/>
            <a:ext cx="522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Original order identifier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020" y="313182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533400"/>
                </a:lnTo>
                <a:cubicBezTo>
                  <a:pt x="2619375" y="575456"/>
                  <a:pt x="2585231" y="609600"/>
                  <a:pt x="25431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17220" y="3208023"/>
            <a:ext cx="102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customer_key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99279" y="32080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8101" y="0"/>
                </a:moveTo>
                <a:lnTo>
                  <a:pt x="247649" y="0"/>
                </a:lnTo>
                <a:cubicBezTo>
                  <a:pt x="268692" y="0"/>
                  <a:pt x="285750" y="17058"/>
                  <a:pt x="285750" y="38101"/>
                </a:cubicBezTo>
                <a:lnTo>
                  <a:pt x="285750" y="190499"/>
                </a:lnTo>
                <a:cubicBezTo>
                  <a:pt x="285750" y="211542"/>
                  <a:pt x="268692" y="228600"/>
                  <a:pt x="247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7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2799279" y="3208023"/>
            <a:ext cx="3429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" y="3474723"/>
            <a:ext cx="2533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dimension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38500" y="313182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533400"/>
                </a:lnTo>
                <a:cubicBezTo>
                  <a:pt x="2619375" y="575456"/>
                  <a:pt x="2585231" y="609600"/>
                  <a:pt x="25431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314700" y="320802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product_key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96759" y="32080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8101" y="0"/>
                </a:moveTo>
                <a:lnTo>
                  <a:pt x="247649" y="0"/>
                </a:lnTo>
                <a:cubicBezTo>
                  <a:pt x="268692" y="0"/>
                  <a:pt x="285750" y="17058"/>
                  <a:pt x="285750" y="38101"/>
                </a:cubicBezTo>
                <a:lnTo>
                  <a:pt x="285750" y="190499"/>
                </a:lnTo>
                <a:cubicBezTo>
                  <a:pt x="285750" y="211542"/>
                  <a:pt x="268692" y="228600"/>
                  <a:pt x="247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7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496759" y="3208023"/>
            <a:ext cx="3429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14700" y="3474723"/>
            <a:ext cx="2533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dimension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1020" y="381762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533400"/>
                </a:lnTo>
                <a:cubicBezTo>
                  <a:pt x="2619375" y="575456"/>
                  <a:pt x="2585231" y="609600"/>
                  <a:pt x="25431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17220" y="3893823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employee_key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99279" y="38938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8101" y="0"/>
                </a:moveTo>
                <a:lnTo>
                  <a:pt x="247649" y="0"/>
                </a:lnTo>
                <a:cubicBezTo>
                  <a:pt x="268692" y="0"/>
                  <a:pt x="285750" y="17058"/>
                  <a:pt x="285750" y="38101"/>
                </a:cubicBezTo>
                <a:lnTo>
                  <a:pt x="285750" y="190499"/>
                </a:lnTo>
                <a:cubicBezTo>
                  <a:pt x="285750" y="211542"/>
                  <a:pt x="268692" y="228600"/>
                  <a:pt x="247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7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2799279" y="3893823"/>
            <a:ext cx="3429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" y="4160523"/>
            <a:ext cx="2533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 dimension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38500" y="3817623"/>
            <a:ext cx="2619375" cy="609600"/>
          </a:xfrm>
          <a:custGeom>
            <a:avLst/>
            <a:gdLst/>
            <a:ahLst/>
            <a:cxnLst/>
            <a:rect l="l" t="t" r="r" b="b"/>
            <a:pathLst>
              <a:path w="2619375" h="6096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533400"/>
                </a:lnTo>
                <a:cubicBezTo>
                  <a:pt x="2619375" y="575456"/>
                  <a:pt x="2585231" y="609600"/>
                  <a:pt x="25431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314700" y="3893823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date_key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96759" y="38938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8101" y="0"/>
                </a:moveTo>
                <a:lnTo>
                  <a:pt x="247649" y="0"/>
                </a:lnTo>
                <a:cubicBezTo>
                  <a:pt x="268692" y="0"/>
                  <a:pt x="285750" y="17058"/>
                  <a:pt x="285750" y="38101"/>
                </a:cubicBezTo>
                <a:lnTo>
                  <a:pt x="285750" y="190499"/>
                </a:lnTo>
                <a:cubicBezTo>
                  <a:pt x="285750" y="211542"/>
                  <a:pt x="268692" y="228600"/>
                  <a:pt x="2476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7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5496759" y="3893823"/>
            <a:ext cx="3429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14700" y="4160523"/>
            <a:ext cx="2533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Date dimension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4830" y="4507233"/>
            <a:ext cx="5313045" cy="845820"/>
          </a:xfrm>
          <a:custGeom>
            <a:avLst/>
            <a:gdLst/>
            <a:ahLst/>
            <a:cxnLst/>
            <a:rect l="l" t="t" r="r" b="b"/>
            <a:pathLst>
              <a:path w="5313045" h="8458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769620"/>
                </a:lnTo>
                <a:cubicBezTo>
                  <a:pt x="5313045" y="811704"/>
                  <a:pt x="5278929" y="845820"/>
                  <a:pt x="52368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10000"/>
                </a:srgbClr>
              </a:gs>
            </a:gsLst>
            <a:lin ang="0" scaled="1"/>
          </a:gra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840" y="4587241"/>
            <a:ext cx="5229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 (Measures)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890" y="488442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5918" y="182"/>
                </a:moveTo>
                <a:cubicBezTo>
                  <a:pt x="60424" y="1146"/>
                  <a:pt x="63289" y="5574"/>
                  <a:pt x="62325" y="10079"/>
                </a:cubicBezTo>
                <a:lnTo>
                  <a:pt x="57351" y="33337"/>
                </a:lnTo>
                <a:lnTo>
                  <a:pt x="90298" y="33337"/>
                </a:lnTo>
                <a:lnTo>
                  <a:pt x="96028" y="6589"/>
                </a:lnTo>
                <a:cubicBezTo>
                  <a:pt x="96991" y="2084"/>
                  <a:pt x="101419" y="-781"/>
                  <a:pt x="105925" y="182"/>
                </a:cubicBezTo>
                <a:cubicBezTo>
                  <a:pt x="110430" y="1146"/>
                  <a:pt x="113295" y="5574"/>
                  <a:pt x="112332" y="10079"/>
                </a:cubicBezTo>
                <a:lnTo>
                  <a:pt x="107357" y="33337"/>
                </a:lnTo>
                <a:lnTo>
                  <a:pt x="125016" y="33337"/>
                </a:lnTo>
                <a:cubicBezTo>
                  <a:pt x="129626" y="33337"/>
                  <a:pt x="133350" y="37062"/>
                  <a:pt x="133350" y="41672"/>
                </a:cubicBezTo>
                <a:cubicBezTo>
                  <a:pt x="133350" y="46282"/>
                  <a:pt x="129626" y="50006"/>
                  <a:pt x="125016" y="50006"/>
                </a:cubicBezTo>
                <a:lnTo>
                  <a:pt x="103763" y="50006"/>
                </a:lnTo>
                <a:lnTo>
                  <a:pt x="96627" y="83344"/>
                </a:lnTo>
                <a:lnTo>
                  <a:pt x="114285" y="83344"/>
                </a:lnTo>
                <a:cubicBezTo>
                  <a:pt x="118895" y="83344"/>
                  <a:pt x="122619" y="87068"/>
                  <a:pt x="122619" y="91678"/>
                </a:cubicBezTo>
                <a:cubicBezTo>
                  <a:pt x="122619" y="96288"/>
                  <a:pt x="118895" y="100013"/>
                  <a:pt x="114285" y="100013"/>
                </a:cubicBezTo>
                <a:lnTo>
                  <a:pt x="93032" y="100013"/>
                </a:lnTo>
                <a:lnTo>
                  <a:pt x="87303" y="126761"/>
                </a:lnTo>
                <a:cubicBezTo>
                  <a:pt x="86339" y="131266"/>
                  <a:pt x="81911" y="134131"/>
                  <a:pt x="77406" y="133168"/>
                </a:cubicBezTo>
                <a:cubicBezTo>
                  <a:pt x="72900" y="132204"/>
                  <a:pt x="70035" y="127776"/>
                  <a:pt x="70998" y="123271"/>
                </a:cubicBezTo>
                <a:lnTo>
                  <a:pt x="75973" y="100013"/>
                </a:lnTo>
                <a:lnTo>
                  <a:pt x="43026" y="100013"/>
                </a:lnTo>
                <a:lnTo>
                  <a:pt x="37296" y="126761"/>
                </a:lnTo>
                <a:cubicBezTo>
                  <a:pt x="36333" y="131266"/>
                  <a:pt x="31905" y="134131"/>
                  <a:pt x="27399" y="133168"/>
                </a:cubicBezTo>
                <a:cubicBezTo>
                  <a:pt x="22893" y="132204"/>
                  <a:pt x="20029" y="127776"/>
                  <a:pt x="20992" y="123271"/>
                </a:cubicBezTo>
                <a:lnTo>
                  <a:pt x="25993" y="100013"/>
                </a:lnTo>
                <a:lnTo>
                  <a:pt x="8334" y="100013"/>
                </a:lnTo>
                <a:cubicBezTo>
                  <a:pt x="3724" y="100013"/>
                  <a:pt x="0" y="96288"/>
                  <a:pt x="0" y="91678"/>
                </a:cubicBezTo>
                <a:cubicBezTo>
                  <a:pt x="0" y="87068"/>
                  <a:pt x="3724" y="83344"/>
                  <a:pt x="8334" y="83344"/>
                </a:cubicBezTo>
                <a:lnTo>
                  <a:pt x="29587" y="83344"/>
                </a:lnTo>
                <a:lnTo>
                  <a:pt x="36723" y="50006"/>
                </a:lnTo>
                <a:lnTo>
                  <a:pt x="19065" y="50006"/>
                </a:lnTo>
                <a:cubicBezTo>
                  <a:pt x="14455" y="50006"/>
                  <a:pt x="10731" y="46282"/>
                  <a:pt x="10731" y="41672"/>
                </a:cubicBezTo>
                <a:cubicBezTo>
                  <a:pt x="10731" y="37062"/>
                  <a:pt x="14455" y="33337"/>
                  <a:pt x="19065" y="33337"/>
                </a:cubicBezTo>
                <a:lnTo>
                  <a:pt x="40318" y="33337"/>
                </a:lnTo>
                <a:lnTo>
                  <a:pt x="46047" y="6589"/>
                </a:lnTo>
                <a:cubicBezTo>
                  <a:pt x="46985" y="2084"/>
                  <a:pt x="51413" y="-781"/>
                  <a:pt x="55918" y="182"/>
                </a:cubicBezTo>
                <a:close/>
                <a:moveTo>
                  <a:pt x="53757" y="50006"/>
                </a:moveTo>
                <a:lnTo>
                  <a:pt x="46620" y="83344"/>
                </a:lnTo>
                <a:lnTo>
                  <a:pt x="79567" y="83344"/>
                </a:lnTo>
                <a:lnTo>
                  <a:pt x="86704" y="50006"/>
                </a:lnTo>
                <a:lnTo>
                  <a:pt x="53757" y="50006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0" name="Text 38"/>
          <p:cNvSpPr/>
          <p:nvPr/>
        </p:nvSpPr>
        <p:spPr>
          <a:xfrm>
            <a:off x="824865" y="4853941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63503" y="488442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2" name="Text 40"/>
          <p:cNvSpPr/>
          <p:nvPr/>
        </p:nvSpPr>
        <p:spPr>
          <a:xfrm>
            <a:off x="3419475" y="4853941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unit_price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224" y="51130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4" name="Text 42"/>
          <p:cNvSpPr/>
          <p:nvPr/>
        </p:nvSpPr>
        <p:spPr>
          <a:xfrm>
            <a:off x="824865" y="5082541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discount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55169" y="5113023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25003" y="16669"/>
                </a:moveTo>
                <a:lnTo>
                  <a:pt x="75009" y="16669"/>
                </a:lnTo>
                <a:cubicBezTo>
                  <a:pt x="79619" y="16669"/>
                  <a:pt x="83344" y="20393"/>
                  <a:pt x="83344" y="25003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25003" y="41672"/>
                </a:lnTo>
                <a:cubicBezTo>
                  <a:pt x="20393" y="41672"/>
                  <a:pt x="16669" y="37947"/>
                  <a:pt x="16669" y="33337"/>
                </a:cubicBezTo>
                <a:lnTo>
                  <a:pt x="16669" y="25003"/>
                </a:lnTo>
                <a:cubicBezTo>
                  <a:pt x="16669" y="20393"/>
                  <a:pt x="20393" y="16669"/>
                  <a:pt x="25003" y="16669"/>
                </a:cubicBezTo>
                <a:close/>
                <a:moveTo>
                  <a:pt x="29170" y="60424"/>
                </a:moveTo>
                <a:cubicBezTo>
                  <a:pt x="29170" y="63874"/>
                  <a:pt x="26369" y="66675"/>
                  <a:pt x="22920" y="66675"/>
                </a:cubicBezTo>
                <a:cubicBezTo>
                  <a:pt x="19470" y="66675"/>
                  <a:pt x="16669" y="63874"/>
                  <a:pt x="16669" y="60424"/>
                </a:cubicBezTo>
                <a:cubicBezTo>
                  <a:pt x="16669" y="56974"/>
                  <a:pt x="19470" y="54173"/>
                  <a:pt x="22920" y="54173"/>
                </a:cubicBezTo>
                <a:cubicBezTo>
                  <a:pt x="26369" y="54173"/>
                  <a:pt x="29170" y="56974"/>
                  <a:pt x="29170" y="60424"/>
                </a:cubicBezTo>
                <a:close/>
                <a:moveTo>
                  <a:pt x="50006" y="66675"/>
                </a:moveTo>
                <a:cubicBezTo>
                  <a:pt x="46556" y="66675"/>
                  <a:pt x="43755" y="63874"/>
                  <a:pt x="43755" y="60424"/>
                </a:cubicBezTo>
                <a:cubicBezTo>
                  <a:pt x="43755" y="56974"/>
                  <a:pt x="46556" y="54173"/>
                  <a:pt x="50006" y="54173"/>
                </a:cubicBezTo>
                <a:cubicBezTo>
                  <a:pt x="53456" y="54173"/>
                  <a:pt x="56257" y="56974"/>
                  <a:pt x="56257" y="60424"/>
                </a:cubicBezTo>
                <a:cubicBezTo>
                  <a:pt x="56257" y="63874"/>
                  <a:pt x="53456" y="66675"/>
                  <a:pt x="50006" y="66675"/>
                </a:cubicBezTo>
                <a:close/>
                <a:moveTo>
                  <a:pt x="83344" y="60424"/>
                </a:moveTo>
                <a:cubicBezTo>
                  <a:pt x="83344" y="63874"/>
                  <a:pt x="80543" y="66675"/>
                  <a:pt x="77093" y="66675"/>
                </a:cubicBezTo>
                <a:cubicBezTo>
                  <a:pt x="73643" y="66675"/>
                  <a:pt x="70842" y="63874"/>
                  <a:pt x="70842" y="60424"/>
                </a:cubicBezTo>
                <a:cubicBezTo>
                  <a:pt x="70842" y="56974"/>
                  <a:pt x="73643" y="54173"/>
                  <a:pt x="77093" y="54173"/>
                </a:cubicBezTo>
                <a:cubicBezTo>
                  <a:pt x="80543" y="54173"/>
                  <a:pt x="83344" y="56974"/>
                  <a:pt x="83344" y="60424"/>
                </a:cubicBezTo>
                <a:close/>
                <a:moveTo>
                  <a:pt x="22920" y="91678"/>
                </a:moveTo>
                <a:cubicBezTo>
                  <a:pt x="19470" y="91678"/>
                  <a:pt x="16669" y="88877"/>
                  <a:pt x="16669" y="85427"/>
                </a:cubicBezTo>
                <a:cubicBezTo>
                  <a:pt x="16669" y="81977"/>
                  <a:pt x="19470" y="79177"/>
                  <a:pt x="22920" y="79177"/>
                </a:cubicBezTo>
                <a:cubicBezTo>
                  <a:pt x="26369" y="79177"/>
                  <a:pt x="29170" y="81977"/>
                  <a:pt x="29170" y="85427"/>
                </a:cubicBezTo>
                <a:cubicBezTo>
                  <a:pt x="29170" y="88877"/>
                  <a:pt x="26369" y="91678"/>
                  <a:pt x="22920" y="91678"/>
                </a:cubicBezTo>
                <a:close/>
                <a:moveTo>
                  <a:pt x="56257" y="85427"/>
                </a:moveTo>
                <a:cubicBezTo>
                  <a:pt x="56257" y="88877"/>
                  <a:pt x="53456" y="91678"/>
                  <a:pt x="50006" y="91678"/>
                </a:cubicBezTo>
                <a:cubicBezTo>
                  <a:pt x="46556" y="91678"/>
                  <a:pt x="43755" y="88877"/>
                  <a:pt x="43755" y="85427"/>
                </a:cubicBezTo>
                <a:cubicBezTo>
                  <a:pt x="43755" y="81977"/>
                  <a:pt x="46556" y="79177"/>
                  <a:pt x="50006" y="79177"/>
                </a:cubicBezTo>
                <a:cubicBezTo>
                  <a:pt x="53456" y="79177"/>
                  <a:pt x="56257" y="81977"/>
                  <a:pt x="56257" y="85427"/>
                </a:cubicBezTo>
                <a:close/>
                <a:moveTo>
                  <a:pt x="77093" y="91678"/>
                </a:moveTo>
                <a:cubicBezTo>
                  <a:pt x="73643" y="91678"/>
                  <a:pt x="70842" y="88877"/>
                  <a:pt x="70842" y="85427"/>
                </a:cubicBezTo>
                <a:cubicBezTo>
                  <a:pt x="70842" y="81977"/>
                  <a:pt x="73643" y="79177"/>
                  <a:pt x="77093" y="79177"/>
                </a:cubicBezTo>
                <a:cubicBezTo>
                  <a:pt x="80543" y="79177"/>
                  <a:pt x="83344" y="81977"/>
                  <a:pt x="83344" y="85427"/>
                </a:cubicBezTo>
                <a:cubicBezTo>
                  <a:pt x="83344" y="88877"/>
                  <a:pt x="80543" y="91678"/>
                  <a:pt x="77093" y="91678"/>
                </a:cubicBezTo>
                <a:close/>
                <a:moveTo>
                  <a:pt x="16669" y="110430"/>
                </a:moveTo>
                <a:cubicBezTo>
                  <a:pt x="16669" y="106966"/>
                  <a:pt x="19456" y="104180"/>
                  <a:pt x="22920" y="104180"/>
                </a:cubicBezTo>
                <a:lnTo>
                  <a:pt x="52090" y="104180"/>
                </a:lnTo>
                <a:cubicBezTo>
                  <a:pt x="55554" y="104180"/>
                  <a:pt x="58341" y="106966"/>
                  <a:pt x="58341" y="110430"/>
                </a:cubicBezTo>
                <a:cubicBezTo>
                  <a:pt x="58341" y="113894"/>
                  <a:pt x="55554" y="116681"/>
                  <a:pt x="52090" y="116681"/>
                </a:cubicBezTo>
                <a:lnTo>
                  <a:pt x="22920" y="116681"/>
                </a:lnTo>
                <a:cubicBezTo>
                  <a:pt x="19456" y="116681"/>
                  <a:pt x="16669" y="113894"/>
                  <a:pt x="16669" y="110430"/>
                </a:cubicBezTo>
                <a:close/>
                <a:moveTo>
                  <a:pt x="77093" y="104180"/>
                </a:moveTo>
                <a:cubicBezTo>
                  <a:pt x="80557" y="104180"/>
                  <a:pt x="83344" y="106966"/>
                  <a:pt x="83344" y="110430"/>
                </a:cubicBezTo>
                <a:cubicBezTo>
                  <a:pt x="83344" y="113894"/>
                  <a:pt x="80557" y="116681"/>
                  <a:pt x="77093" y="116681"/>
                </a:cubicBezTo>
                <a:cubicBezTo>
                  <a:pt x="73629" y="116681"/>
                  <a:pt x="70842" y="113894"/>
                  <a:pt x="70842" y="110430"/>
                </a:cubicBezTo>
                <a:cubicBezTo>
                  <a:pt x="70842" y="106966"/>
                  <a:pt x="73629" y="104180"/>
                  <a:pt x="77093" y="10418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46" name="Text 44"/>
          <p:cNvSpPr/>
          <p:nvPr/>
        </p:nvSpPr>
        <p:spPr>
          <a:xfrm>
            <a:off x="3419475" y="5082541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total_price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6010" y="1223010"/>
            <a:ext cx="5627370" cy="4351020"/>
          </a:xfrm>
          <a:custGeom>
            <a:avLst/>
            <a:gdLst/>
            <a:ahLst/>
            <a:cxnLst/>
            <a:rect l="l" t="t" r="r" b="b"/>
            <a:pathLst>
              <a:path w="5627370" h="4351020">
                <a:moveTo>
                  <a:pt x="76186" y="0"/>
                </a:moveTo>
                <a:lnTo>
                  <a:pt x="5551184" y="0"/>
                </a:lnTo>
                <a:cubicBezTo>
                  <a:pt x="5593260" y="0"/>
                  <a:pt x="5627370" y="34110"/>
                  <a:pt x="5627370" y="76186"/>
                </a:cubicBezTo>
                <a:lnTo>
                  <a:pt x="5627370" y="4274834"/>
                </a:lnTo>
                <a:cubicBezTo>
                  <a:pt x="5627370" y="4316910"/>
                  <a:pt x="5593260" y="4351020"/>
                  <a:pt x="5551184" y="4351020"/>
                </a:cubicBezTo>
                <a:lnTo>
                  <a:pt x="76186" y="4351020"/>
                </a:lnTo>
                <a:cubicBezTo>
                  <a:pt x="34110" y="4351020"/>
                  <a:pt x="0" y="4316910"/>
                  <a:pt x="0" y="427483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6032" y="1417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49" name="Text 47"/>
          <p:cNvSpPr/>
          <p:nvPr/>
        </p:nvSpPr>
        <p:spPr>
          <a:xfrm>
            <a:off x="6570345" y="1379223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2220" y="17602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08420" y="18554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52" name="Shape 50"/>
          <p:cNvSpPr/>
          <p:nvPr/>
        </p:nvSpPr>
        <p:spPr>
          <a:xfrm>
            <a:off x="6503670" y="196977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3" name="Text 51"/>
          <p:cNvSpPr/>
          <p:nvPr/>
        </p:nvSpPr>
        <p:spPr>
          <a:xfrm>
            <a:off x="6903720" y="1836423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dim_customer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03720" y="2065023"/>
            <a:ext cx="2238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attributes &amp; demographics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2220" y="24460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408420" y="25412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57" name="Shape 55"/>
          <p:cNvSpPr/>
          <p:nvPr/>
        </p:nvSpPr>
        <p:spPr>
          <a:xfrm>
            <a:off x="6532245" y="26555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8" name="Text 56"/>
          <p:cNvSpPr/>
          <p:nvPr/>
        </p:nvSpPr>
        <p:spPr>
          <a:xfrm>
            <a:off x="6903720" y="2522223"/>
            <a:ext cx="2066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dim_product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03720" y="2750823"/>
            <a:ext cx="2057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info + category &amp; supplier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32220" y="31318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6408420" y="32270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2" name="Shape 60"/>
          <p:cNvSpPr/>
          <p:nvPr/>
        </p:nvSpPr>
        <p:spPr>
          <a:xfrm>
            <a:off x="6532245" y="33413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63" name="Text 61"/>
          <p:cNvSpPr/>
          <p:nvPr/>
        </p:nvSpPr>
        <p:spPr>
          <a:xfrm>
            <a:off x="6903720" y="3208023"/>
            <a:ext cx="1781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dim_employee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03720" y="3436623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 details &amp; hierarchy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32220" y="381762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6408420" y="39128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67" name="Shape 65"/>
          <p:cNvSpPr/>
          <p:nvPr/>
        </p:nvSpPr>
        <p:spPr>
          <a:xfrm>
            <a:off x="6532245" y="40271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68" name="Text 66"/>
          <p:cNvSpPr/>
          <p:nvPr/>
        </p:nvSpPr>
        <p:spPr>
          <a:xfrm>
            <a:off x="6903720" y="3893823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dim_date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903720" y="4122423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Year, quarter, month, day breakdown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51270" y="4541523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0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B88A53">
                  <a:alpha val="20000"/>
                </a:srgbClr>
              </a:gs>
            </a:gsLst>
            <a:lin ang="0" scaled="1"/>
          </a:gradFill>
        </p:spPr>
      </p:sp>
      <p:sp>
        <p:nvSpPr>
          <p:cNvPr id="71" name="Shape 69"/>
          <p:cNvSpPr/>
          <p:nvPr/>
        </p:nvSpPr>
        <p:spPr>
          <a:xfrm>
            <a:off x="6351270" y="454152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72" name="Shape 70"/>
          <p:cNvSpPr/>
          <p:nvPr/>
        </p:nvSpPr>
        <p:spPr>
          <a:xfrm>
            <a:off x="6484620" y="46558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73" name="Text 71"/>
          <p:cNvSpPr/>
          <p:nvPr/>
        </p:nvSpPr>
        <p:spPr>
          <a:xfrm>
            <a:off x="6637020" y="4617723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446520" y="4884423"/>
            <a:ext cx="5200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 enables </a:t>
            </a:r>
            <a:r>
              <a:rPr lang="en-US" sz="120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 analytical queries</a:t>
            </a:r>
            <a:r>
              <a:rPr lang="en-US" sz="120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with minimal joins. Ideal for sales trends, customer behavior analysis, and executive reporting.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264462" y="5692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76" name="Text 74"/>
          <p:cNvSpPr/>
          <p:nvPr/>
        </p:nvSpPr>
        <p:spPr>
          <a:xfrm>
            <a:off x="4531162" y="5654041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640348" y="5692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DAE">
              <a:alpha val="70196"/>
            </a:srgbClr>
          </a:solidFill>
        </p:spPr>
      </p:sp>
      <p:sp>
        <p:nvSpPr>
          <p:cNvPr id="78" name="Text 76"/>
          <p:cNvSpPr/>
          <p:nvPr/>
        </p:nvSpPr>
        <p:spPr>
          <a:xfrm>
            <a:off x="5907048" y="5654041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008376" y="5692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0"/>
                </a:moveTo>
                <a:lnTo>
                  <a:pt x="114300" y="0"/>
                </a:lnTo>
                <a:cubicBezTo>
                  <a:pt x="135328" y="0"/>
                  <a:pt x="152400" y="17072"/>
                  <a:pt x="152400" y="38100"/>
                </a:cubicBezTo>
                <a:lnTo>
                  <a:pt x="152400" y="114300"/>
                </a:lnTo>
                <a:cubicBezTo>
                  <a:pt x="152400" y="135328"/>
                  <a:pt x="135328" y="152400"/>
                  <a:pt x="1143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80" name="Text 78"/>
          <p:cNvSpPr/>
          <p:nvPr/>
        </p:nvSpPr>
        <p:spPr>
          <a:xfrm>
            <a:off x="7275076" y="5654041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 ID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30988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23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61012"/>
            <a:ext cx="11622795" cy="36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Apache Airflow Workflow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901" y="1252251"/>
            <a:ext cx="11446525" cy="3789802"/>
          </a:xfrm>
          <a:custGeom>
            <a:avLst/>
            <a:gdLst/>
            <a:ahLst/>
            <a:cxnLst/>
            <a:rect l="l" t="t" r="r" b="b"/>
            <a:pathLst>
              <a:path w="11446525" h="3789802">
                <a:moveTo>
                  <a:pt x="73446" y="0"/>
                </a:moveTo>
                <a:lnTo>
                  <a:pt x="11373079" y="0"/>
                </a:lnTo>
                <a:cubicBezTo>
                  <a:pt x="11413642" y="0"/>
                  <a:pt x="11446525" y="32883"/>
                  <a:pt x="11446525" y="73446"/>
                </a:cubicBezTo>
                <a:lnTo>
                  <a:pt x="11446525" y="3716356"/>
                </a:lnTo>
                <a:cubicBezTo>
                  <a:pt x="11446525" y="3756919"/>
                  <a:pt x="11413642" y="3789802"/>
                  <a:pt x="11373079" y="3789802"/>
                </a:cubicBezTo>
                <a:lnTo>
                  <a:pt x="73446" y="3789802"/>
                </a:lnTo>
                <a:cubicBezTo>
                  <a:pt x="32883" y="3789802"/>
                  <a:pt x="0" y="3756919"/>
                  <a:pt x="0" y="3716356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2453" y="1512869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0" y="34428"/>
                </a:moveTo>
                <a:cubicBezTo>
                  <a:pt x="0" y="23024"/>
                  <a:pt x="9252" y="13771"/>
                  <a:pt x="20657" y="13771"/>
                </a:cubicBezTo>
                <a:lnTo>
                  <a:pt x="61970" y="13771"/>
                </a:lnTo>
                <a:cubicBezTo>
                  <a:pt x="73374" y="13771"/>
                  <a:pt x="82627" y="23024"/>
                  <a:pt x="82627" y="34428"/>
                </a:cubicBezTo>
                <a:lnTo>
                  <a:pt x="82627" y="41313"/>
                </a:lnTo>
                <a:lnTo>
                  <a:pt x="137711" y="41313"/>
                </a:lnTo>
                <a:lnTo>
                  <a:pt x="137711" y="34428"/>
                </a:lnTo>
                <a:cubicBezTo>
                  <a:pt x="137711" y="23024"/>
                  <a:pt x="146963" y="13771"/>
                  <a:pt x="158367" y="13771"/>
                </a:cubicBezTo>
                <a:lnTo>
                  <a:pt x="199681" y="13771"/>
                </a:lnTo>
                <a:cubicBezTo>
                  <a:pt x="211085" y="13771"/>
                  <a:pt x="220337" y="23024"/>
                  <a:pt x="220337" y="34428"/>
                </a:cubicBezTo>
                <a:lnTo>
                  <a:pt x="220337" y="75741"/>
                </a:lnTo>
                <a:cubicBezTo>
                  <a:pt x="220337" y="87145"/>
                  <a:pt x="211085" y="96398"/>
                  <a:pt x="199681" y="96398"/>
                </a:cubicBezTo>
                <a:lnTo>
                  <a:pt x="158367" y="96398"/>
                </a:lnTo>
                <a:cubicBezTo>
                  <a:pt x="146963" y="96398"/>
                  <a:pt x="137711" y="87145"/>
                  <a:pt x="137711" y="75741"/>
                </a:cubicBezTo>
                <a:lnTo>
                  <a:pt x="137711" y="68855"/>
                </a:lnTo>
                <a:lnTo>
                  <a:pt x="82627" y="68855"/>
                </a:lnTo>
                <a:lnTo>
                  <a:pt x="82627" y="75741"/>
                </a:lnTo>
                <a:cubicBezTo>
                  <a:pt x="82627" y="78882"/>
                  <a:pt x="81895" y="81895"/>
                  <a:pt x="80647" y="84563"/>
                </a:cubicBezTo>
                <a:lnTo>
                  <a:pt x="110169" y="123940"/>
                </a:lnTo>
                <a:lnTo>
                  <a:pt x="144596" y="123940"/>
                </a:lnTo>
                <a:cubicBezTo>
                  <a:pt x="156001" y="123940"/>
                  <a:pt x="165253" y="133192"/>
                  <a:pt x="165253" y="144596"/>
                </a:cubicBezTo>
                <a:lnTo>
                  <a:pt x="165253" y="185910"/>
                </a:lnTo>
                <a:cubicBezTo>
                  <a:pt x="165253" y="197314"/>
                  <a:pt x="156001" y="206566"/>
                  <a:pt x="144596" y="206566"/>
                </a:cubicBezTo>
                <a:lnTo>
                  <a:pt x="103283" y="206566"/>
                </a:lnTo>
                <a:cubicBezTo>
                  <a:pt x="91879" y="206566"/>
                  <a:pt x="82627" y="197314"/>
                  <a:pt x="82627" y="185910"/>
                </a:cubicBezTo>
                <a:lnTo>
                  <a:pt x="82627" y="144596"/>
                </a:lnTo>
                <a:cubicBezTo>
                  <a:pt x="82627" y="141455"/>
                  <a:pt x="83358" y="138442"/>
                  <a:pt x="84606" y="135774"/>
                </a:cubicBezTo>
                <a:lnTo>
                  <a:pt x="55084" y="96398"/>
                </a:lnTo>
                <a:lnTo>
                  <a:pt x="20657" y="96398"/>
                </a:lnTo>
                <a:cubicBezTo>
                  <a:pt x="9252" y="96398"/>
                  <a:pt x="0" y="87145"/>
                  <a:pt x="0" y="75741"/>
                </a:cubicBezTo>
                <a:lnTo>
                  <a:pt x="0" y="34428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6" name="Text 4"/>
          <p:cNvSpPr/>
          <p:nvPr/>
        </p:nvSpPr>
        <p:spPr>
          <a:xfrm>
            <a:off x="870333" y="1476263"/>
            <a:ext cx="10833253" cy="293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DAG Task Sequence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5246" y="195354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8" name="Shape 6"/>
          <p:cNvSpPr/>
          <p:nvPr/>
        </p:nvSpPr>
        <p:spPr>
          <a:xfrm>
            <a:off x="1718861" y="2137158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55084" y="137711"/>
                </a:moveTo>
                <a:lnTo>
                  <a:pt x="10543" y="137711"/>
                </a:lnTo>
                <a:cubicBezTo>
                  <a:pt x="-172" y="137711"/>
                  <a:pt x="-6756" y="126048"/>
                  <a:pt x="-1248" y="116839"/>
                </a:cubicBezTo>
                <a:lnTo>
                  <a:pt x="21517" y="78882"/>
                </a:lnTo>
                <a:cubicBezTo>
                  <a:pt x="25261" y="72642"/>
                  <a:pt x="31975" y="68855"/>
                  <a:pt x="39248" y="68855"/>
                </a:cubicBezTo>
                <a:lnTo>
                  <a:pt x="80130" y="68855"/>
                </a:lnTo>
                <a:cubicBezTo>
                  <a:pt x="112880" y="13384"/>
                  <a:pt x="161724" y="10587"/>
                  <a:pt x="194387" y="15363"/>
                </a:cubicBezTo>
                <a:cubicBezTo>
                  <a:pt x="199896" y="16181"/>
                  <a:pt x="204199" y="20484"/>
                  <a:pt x="204974" y="25950"/>
                </a:cubicBezTo>
                <a:cubicBezTo>
                  <a:pt x="209751" y="58613"/>
                  <a:pt x="206954" y="107457"/>
                  <a:pt x="151482" y="140207"/>
                </a:cubicBezTo>
                <a:lnTo>
                  <a:pt x="151482" y="181090"/>
                </a:lnTo>
                <a:cubicBezTo>
                  <a:pt x="151482" y="188363"/>
                  <a:pt x="147695" y="195076"/>
                  <a:pt x="141455" y="198820"/>
                </a:cubicBezTo>
                <a:lnTo>
                  <a:pt x="103498" y="221585"/>
                </a:lnTo>
                <a:cubicBezTo>
                  <a:pt x="94332" y="227094"/>
                  <a:pt x="82627" y="220466"/>
                  <a:pt x="82627" y="209794"/>
                </a:cubicBezTo>
                <a:lnTo>
                  <a:pt x="82627" y="165253"/>
                </a:lnTo>
                <a:cubicBezTo>
                  <a:pt x="82627" y="150062"/>
                  <a:pt x="70276" y="137711"/>
                  <a:pt x="55084" y="137711"/>
                </a:cubicBezTo>
                <a:lnTo>
                  <a:pt x="55041" y="137711"/>
                </a:lnTo>
                <a:close/>
                <a:moveTo>
                  <a:pt x="172139" y="68855"/>
                </a:moveTo>
                <a:cubicBezTo>
                  <a:pt x="172139" y="57455"/>
                  <a:pt x="162883" y="48199"/>
                  <a:pt x="151482" y="48199"/>
                </a:cubicBezTo>
                <a:cubicBezTo>
                  <a:pt x="140081" y="48199"/>
                  <a:pt x="130825" y="57455"/>
                  <a:pt x="130825" y="68855"/>
                </a:cubicBezTo>
                <a:cubicBezTo>
                  <a:pt x="130825" y="80256"/>
                  <a:pt x="140081" y="89512"/>
                  <a:pt x="151482" y="89512"/>
                </a:cubicBezTo>
                <a:cubicBezTo>
                  <a:pt x="162883" y="89512"/>
                  <a:pt x="172139" y="80256"/>
                  <a:pt x="172139" y="6885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9" name="Text 7"/>
          <p:cNvSpPr/>
          <p:nvPr/>
        </p:nvSpPr>
        <p:spPr>
          <a:xfrm>
            <a:off x="1610069" y="2651279"/>
            <a:ext cx="440675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7443" y="2908339"/>
            <a:ext cx="605928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9546" y="2430942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12" name="Shape 10"/>
          <p:cNvSpPr/>
          <p:nvPr/>
        </p:nvSpPr>
        <p:spPr>
          <a:xfrm>
            <a:off x="4379893" y="195354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3" name="Shape 11"/>
          <p:cNvSpPr/>
          <p:nvPr/>
        </p:nvSpPr>
        <p:spPr>
          <a:xfrm>
            <a:off x="4535966" y="2137158"/>
            <a:ext cx="275422" cy="220337"/>
          </a:xfrm>
          <a:custGeom>
            <a:avLst/>
            <a:gdLst/>
            <a:ahLst/>
            <a:cxnLst/>
            <a:rect l="l" t="t" r="r" b="b"/>
            <a:pathLst>
              <a:path w="275422" h="220337">
                <a:moveTo>
                  <a:pt x="106253" y="7875"/>
                </a:moveTo>
                <a:lnTo>
                  <a:pt x="116624" y="1635"/>
                </a:lnTo>
                <a:cubicBezTo>
                  <a:pt x="125919" y="-3959"/>
                  <a:pt x="136549" y="-6886"/>
                  <a:pt x="147394" y="-6886"/>
                </a:cubicBezTo>
                <a:cubicBezTo>
                  <a:pt x="163230" y="-6886"/>
                  <a:pt x="178465" y="-602"/>
                  <a:pt x="189654" y="10630"/>
                </a:cubicBezTo>
                <a:lnTo>
                  <a:pt x="217153" y="38129"/>
                </a:lnTo>
                <a:cubicBezTo>
                  <a:pt x="223608" y="44584"/>
                  <a:pt x="227223" y="53363"/>
                  <a:pt x="227223" y="62486"/>
                </a:cubicBezTo>
                <a:lnTo>
                  <a:pt x="227223" y="75784"/>
                </a:lnTo>
                <a:lnTo>
                  <a:pt x="235701" y="84262"/>
                </a:lnTo>
                <a:lnTo>
                  <a:pt x="235701" y="84262"/>
                </a:lnTo>
                <a:cubicBezTo>
                  <a:pt x="242414" y="77548"/>
                  <a:pt x="253302" y="77548"/>
                  <a:pt x="260058" y="84262"/>
                </a:cubicBezTo>
                <a:cubicBezTo>
                  <a:pt x="266815" y="90975"/>
                  <a:pt x="266772" y="101863"/>
                  <a:pt x="260058" y="108619"/>
                </a:cubicBezTo>
                <a:lnTo>
                  <a:pt x="232516" y="136162"/>
                </a:lnTo>
                <a:cubicBezTo>
                  <a:pt x="225803" y="142875"/>
                  <a:pt x="214915" y="142875"/>
                  <a:pt x="208159" y="136162"/>
                </a:cubicBezTo>
                <a:cubicBezTo>
                  <a:pt x="201402" y="129448"/>
                  <a:pt x="201445" y="118560"/>
                  <a:pt x="208159" y="111804"/>
                </a:cubicBezTo>
                <a:lnTo>
                  <a:pt x="199681" y="103283"/>
                </a:lnTo>
                <a:lnTo>
                  <a:pt x="186383" y="103283"/>
                </a:lnTo>
                <a:cubicBezTo>
                  <a:pt x="177260" y="103283"/>
                  <a:pt x="168481" y="99668"/>
                  <a:pt x="162025" y="93213"/>
                </a:cubicBezTo>
                <a:lnTo>
                  <a:pt x="140895" y="72083"/>
                </a:lnTo>
                <a:cubicBezTo>
                  <a:pt x="134440" y="65628"/>
                  <a:pt x="130825" y="56849"/>
                  <a:pt x="130825" y="47725"/>
                </a:cubicBezTo>
                <a:lnTo>
                  <a:pt x="130825" y="42260"/>
                </a:lnTo>
                <a:cubicBezTo>
                  <a:pt x="130825" y="37440"/>
                  <a:pt x="128286" y="32921"/>
                  <a:pt x="124155" y="30469"/>
                </a:cubicBezTo>
                <a:lnTo>
                  <a:pt x="106253" y="19710"/>
                </a:lnTo>
                <a:cubicBezTo>
                  <a:pt x="101777" y="17042"/>
                  <a:pt x="101777" y="10587"/>
                  <a:pt x="106253" y="7918"/>
                </a:cubicBezTo>
                <a:close/>
                <a:moveTo>
                  <a:pt x="21819" y="173300"/>
                </a:moveTo>
                <a:lnTo>
                  <a:pt x="117398" y="77721"/>
                </a:lnTo>
                <a:lnTo>
                  <a:pt x="156345" y="116667"/>
                </a:lnTo>
                <a:lnTo>
                  <a:pt x="60765" y="212247"/>
                </a:lnTo>
                <a:cubicBezTo>
                  <a:pt x="50006" y="223005"/>
                  <a:pt x="32577" y="223005"/>
                  <a:pt x="21819" y="212247"/>
                </a:cubicBezTo>
                <a:cubicBezTo>
                  <a:pt x="11060" y="201488"/>
                  <a:pt x="11060" y="184059"/>
                  <a:pt x="21819" y="17330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4" name="Text 12"/>
          <p:cNvSpPr/>
          <p:nvPr/>
        </p:nvSpPr>
        <p:spPr>
          <a:xfrm>
            <a:off x="4089897" y="2651279"/>
            <a:ext cx="1165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Create Staging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0289" y="2908339"/>
            <a:ext cx="504940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4193" y="2430942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17" name="Shape 15"/>
          <p:cNvSpPr/>
          <p:nvPr/>
        </p:nvSpPr>
        <p:spPr>
          <a:xfrm>
            <a:off x="7224540" y="195354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8" name="Shape 16"/>
          <p:cNvSpPr/>
          <p:nvPr/>
        </p:nvSpPr>
        <p:spPr>
          <a:xfrm>
            <a:off x="7421926" y="2137158"/>
            <a:ext cx="192795" cy="220337"/>
          </a:xfrm>
          <a:custGeom>
            <a:avLst/>
            <a:gdLst/>
            <a:ahLst/>
            <a:cxnLst/>
            <a:rect l="l" t="t" r="r" b="b"/>
            <a:pathLst>
              <a:path w="192795" h="220337">
                <a:moveTo>
                  <a:pt x="110169" y="47037"/>
                </a:moveTo>
                <a:lnTo>
                  <a:pt x="110169" y="137711"/>
                </a:lnTo>
                <a:cubicBezTo>
                  <a:pt x="110169" y="145328"/>
                  <a:pt x="104015" y="151482"/>
                  <a:pt x="96398" y="151482"/>
                </a:cubicBezTo>
                <a:cubicBezTo>
                  <a:pt x="88780" y="151482"/>
                  <a:pt x="82627" y="145328"/>
                  <a:pt x="82627" y="137711"/>
                </a:cubicBezTo>
                <a:lnTo>
                  <a:pt x="82627" y="47037"/>
                </a:lnTo>
                <a:lnTo>
                  <a:pt x="64810" y="64853"/>
                </a:lnTo>
                <a:cubicBezTo>
                  <a:pt x="59431" y="70233"/>
                  <a:pt x="50695" y="70233"/>
                  <a:pt x="45315" y="64853"/>
                </a:cubicBezTo>
                <a:cubicBezTo>
                  <a:pt x="39936" y="59474"/>
                  <a:pt x="39936" y="50738"/>
                  <a:pt x="45315" y="45359"/>
                </a:cubicBezTo>
                <a:lnTo>
                  <a:pt x="86629" y="4045"/>
                </a:lnTo>
                <a:cubicBezTo>
                  <a:pt x="92008" y="-1334"/>
                  <a:pt x="100744" y="-1334"/>
                  <a:pt x="106123" y="4045"/>
                </a:cubicBezTo>
                <a:lnTo>
                  <a:pt x="147437" y="45359"/>
                </a:lnTo>
                <a:cubicBezTo>
                  <a:pt x="152816" y="50738"/>
                  <a:pt x="152816" y="59474"/>
                  <a:pt x="147437" y="64853"/>
                </a:cubicBezTo>
                <a:cubicBezTo>
                  <a:pt x="142057" y="70233"/>
                  <a:pt x="133321" y="70233"/>
                  <a:pt x="127942" y="64853"/>
                </a:cubicBezTo>
                <a:lnTo>
                  <a:pt x="110169" y="47037"/>
                </a:lnTo>
                <a:close/>
                <a:moveTo>
                  <a:pt x="96398" y="172139"/>
                </a:moveTo>
                <a:cubicBezTo>
                  <a:pt x="115419" y="172139"/>
                  <a:pt x="130825" y="156732"/>
                  <a:pt x="130825" y="137711"/>
                </a:cubicBezTo>
                <a:lnTo>
                  <a:pt x="165253" y="137711"/>
                </a:lnTo>
                <a:cubicBezTo>
                  <a:pt x="180444" y="137711"/>
                  <a:pt x="192795" y="150062"/>
                  <a:pt x="192795" y="165253"/>
                </a:cubicBezTo>
                <a:lnTo>
                  <a:pt x="192795" y="179024"/>
                </a:lnTo>
                <a:cubicBezTo>
                  <a:pt x="192795" y="194215"/>
                  <a:pt x="180444" y="206566"/>
                  <a:pt x="165253" y="206566"/>
                </a:cubicBezTo>
                <a:lnTo>
                  <a:pt x="27542" y="206566"/>
                </a:lnTo>
                <a:cubicBezTo>
                  <a:pt x="12351" y="206566"/>
                  <a:pt x="0" y="194215"/>
                  <a:pt x="0" y="179024"/>
                </a:cubicBezTo>
                <a:lnTo>
                  <a:pt x="0" y="165253"/>
                </a:lnTo>
                <a:cubicBezTo>
                  <a:pt x="0" y="150062"/>
                  <a:pt x="12351" y="137711"/>
                  <a:pt x="27542" y="137711"/>
                </a:cubicBezTo>
                <a:lnTo>
                  <a:pt x="61970" y="137711"/>
                </a:lnTo>
                <a:cubicBezTo>
                  <a:pt x="61970" y="156732"/>
                  <a:pt x="77376" y="172139"/>
                  <a:pt x="96398" y="172139"/>
                </a:cubicBezTo>
                <a:close/>
                <a:moveTo>
                  <a:pt x="158367" y="182467"/>
                </a:moveTo>
                <a:cubicBezTo>
                  <a:pt x="164068" y="182467"/>
                  <a:pt x="168696" y="177839"/>
                  <a:pt x="168696" y="172139"/>
                </a:cubicBezTo>
                <a:cubicBezTo>
                  <a:pt x="168696" y="166438"/>
                  <a:pt x="164068" y="161810"/>
                  <a:pt x="158367" y="161810"/>
                </a:cubicBezTo>
                <a:cubicBezTo>
                  <a:pt x="152667" y="161810"/>
                  <a:pt x="148039" y="166438"/>
                  <a:pt x="148039" y="172139"/>
                </a:cubicBezTo>
                <a:cubicBezTo>
                  <a:pt x="148039" y="177839"/>
                  <a:pt x="152667" y="182467"/>
                  <a:pt x="158367" y="18246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9" name="Text 17"/>
          <p:cNvSpPr/>
          <p:nvPr/>
        </p:nvSpPr>
        <p:spPr>
          <a:xfrm>
            <a:off x="6940512" y="2651279"/>
            <a:ext cx="1156771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&amp; Load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6718" y="2908339"/>
            <a:ext cx="725277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Bronze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48840" y="2430942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22" name="Shape 20"/>
          <p:cNvSpPr/>
          <p:nvPr/>
        </p:nvSpPr>
        <p:spPr>
          <a:xfrm>
            <a:off x="10069188" y="1953544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3" name="Shape 21"/>
          <p:cNvSpPr/>
          <p:nvPr/>
        </p:nvSpPr>
        <p:spPr>
          <a:xfrm>
            <a:off x="10252802" y="2137158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22218" y="-559"/>
                </a:moveTo>
                <a:cubicBezTo>
                  <a:pt x="114773" y="-4863"/>
                  <a:pt x="105564" y="-4863"/>
                  <a:pt x="98119" y="-559"/>
                </a:cubicBezTo>
                <a:lnTo>
                  <a:pt x="61884" y="20355"/>
                </a:lnTo>
                <a:cubicBezTo>
                  <a:pt x="54439" y="24659"/>
                  <a:pt x="49834" y="32620"/>
                  <a:pt x="49834" y="41227"/>
                </a:cubicBezTo>
                <a:lnTo>
                  <a:pt x="49834" y="85079"/>
                </a:lnTo>
                <a:lnTo>
                  <a:pt x="11835" y="107027"/>
                </a:lnTo>
                <a:cubicBezTo>
                  <a:pt x="4390" y="111331"/>
                  <a:pt x="-215" y="119292"/>
                  <a:pt x="-215" y="127899"/>
                </a:cubicBezTo>
                <a:lnTo>
                  <a:pt x="-215" y="169772"/>
                </a:lnTo>
                <a:cubicBezTo>
                  <a:pt x="-215" y="178379"/>
                  <a:pt x="4390" y="186340"/>
                  <a:pt x="11835" y="190643"/>
                </a:cubicBezTo>
                <a:lnTo>
                  <a:pt x="48113" y="211558"/>
                </a:lnTo>
                <a:cubicBezTo>
                  <a:pt x="55558" y="215862"/>
                  <a:pt x="64767" y="215862"/>
                  <a:pt x="72212" y="211558"/>
                </a:cubicBezTo>
                <a:lnTo>
                  <a:pt x="110212" y="189611"/>
                </a:lnTo>
                <a:lnTo>
                  <a:pt x="148211" y="211558"/>
                </a:lnTo>
                <a:cubicBezTo>
                  <a:pt x="155656" y="215862"/>
                  <a:pt x="164866" y="215862"/>
                  <a:pt x="172311" y="211558"/>
                </a:cubicBezTo>
                <a:lnTo>
                  <a:pt x="208503" y="190643"/>
                </a:lnTo>
                <a:cubicBezTo>
                  <a:pt x="215948" y="186340"/>
                  <a:pt x="220553" y="178379"/>
                  <a:pt x="220553" y="169772"/>
                </a:cubicBezTo>
                <a:lnTo>
                  <a:pt x="220553" y="127899"/>
                </a:lnTo>
                <a:cubicBezTo>
                  <a:pt x="220553" y="119292"/>
                  <a:pt x="215948" y="111331"/>
                  <a:pt x="208503" y="107027"/>
                </a:cubicBezTo>
                <a:lnTo>
                  <a:pt x="170503" y="85079"/>
                </a:lnTo>
                <a:lnTo>
                  <a:pt x="170503" y="41227"/>
                </a:lnTo>
                <a:cubicBezTo>
                  <a:pt x="170503" y="32620"/>
                  <a:pt x="165899" y="24659"/>
                  <a:pt x="158454" y="20355"/>
                </a:cubicBezTo>
                <a:lnTo>
                  <a:pt x="122218" y="-559"/>
                </a:lnTo>
                <a:close/>
                <a:moveTo>
                  <a:pt x="99840" y="125919"/>
                </a:moveTo>
                <a:lnTo>
                  <a:pt x="99840" y="171751"/>
                </a:lnTo>
                <a:lnTo>
                  <a:pt x="61841" y="193699"/>
                </a:lnTo>
                <a:cubicBezTo>
                  <a:pt x="61324" y="194000"/>
                  <a:pt x="60722" y="194172"/>
                  <a:pt x="60119" y="194172"/>
                </a:cubicBezTo>
                <a:lnTo>
                  <a:pt x="60119" y="148857"/>
                </a:lnTo>
                <a:lnTo>
                  <a:pt x="99840" y="125919"/>
                </a:lnTo>
                <a:close/>
                <a:moveTo>
                  <a:pt x="199423" y="126178"/>
                </a:moveTo>
                <a:cubicBezTo>
                  <a:pt x="199724" y="126694"/>
                  <a:pt x="199896" y="127296"/>
                  <a:pt x="199896" y="127899"/>
                </a:cubicBezTo>
                <a:lnTo>
                  <a:pt x="199896" y="169772"/>
                </a:lnTo>
                <a:cubicBezTo>
                  <a:pt x="199896" y="171020"/>
                  <a:pt x="199250" y="172139"/>
                  <a:pt x="198175" y="172741"/>
                </a:cubicBezTo>
                <a:lnTo>
                  <a:pt x="161896" y="193656"/>
                </a:lnTo>
                <a:cubicBezTo>
                  <a:pt x="161380" y="193957"/>
                  <a:pt x="160777" y="194129"/>
                  <a:pt x="160175" y="194129"/>
                </a:cubicBezTo>
                <a:lnTo>
                  <a:pt x="160175" y="148814"/>
                </a:lnTo>
                <a:lnTo>
                  <a:pt x="199423" y="126178"/>
                </a:lnTo>
                <a:close/>
                <a:moveTo>
                  <a:pt x="149890" y="41227"/>
                </a:moveTo>
                <a:lnTo>
                  <a:pt x="149890" y="85079"/>
                </a:lnTo>
                <a:lnTo>
                  <a:pt x="110169" y="108017"/>
                </a:lnTo>
                <a:lnTo>
                  <a:pt x="110169" y="62185"/>
                </a:lnTo>
                <a:lnTo>
                  <a:pt x="149416" y="39549"/>
                </a:lnTo>
                <a:cubicBezTo>
                  <a:pt x="149718" y="40065"/>
                  <a:pt x="149890" y="40668"/>
                  <a:pt x="149890" y="4127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4" name="Text 22"/>
          <p:cNvSpPr/>
          <p:nvPr/>
        </p:nvSpPr>
        <p:spPr>
          <a:xfrm>
            <a:off x="9694843" y="2651279"/>
            <a:ext cx="1340386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 Dimensions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1630" y="2908339"/>
            <a:ext cx="62428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 Tables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13373" y="3275568"/>
            <a:ext cx="165253" cy="220337"/>
          </a:xfrm>
          <a:custGeom>
            <a:avLst/>
            <a:gdLst/>
            <a:ahLst/>
            <a:cxnLst/>
            <a:rect l="l" t="t" r="r" b="b"/>
            <a:pathLst>
              <a:path w="165253" h="220337">
                <a:moveTo>
                  <a:pt x="72901" y="216292"/>
                </a:moveTo>
                <a:cubicBezTo>
                  <a:pt x="78280" y="221671"/>
                  <a:pt x="87016" y="221671"/>
                  <a:pt x="92395" y="216292"/>
                </a:cubicBezTo>
                <a:lnTo>
                  <a:pt x="161251" y="147437"/>
                </a:lnTo>
                <a:cubicBezTo>
                  <a:pt x="166630" y="142057"/>
                  <a:pt x="166630" y="133321"/>
                  <a:pt x="161251" y="127942"/>
                </a:cubicBezTo>
                <a:cubicBezTo>
                  <a:pt x="155871" y="122563"/>
                  <a:pt x="147135" y="122563"/>
                  <a:pt x="141756" y="127942"/>
                </a:cubicBezTo>
                <a:lnTo>
                  <a:pt x="96398" y="173300"/>
                </a:lnTo>
                <a:lnTo>
                  <a:pt x="96398" y="13771"/>
                </a:lnTo>
                <a:cubicBezTo>
                  <a:pt x="96398" y="6154"/>
                  <a:pt x="90244" y="0"/>
                  <a:pt x="82627" y="0"/>
                </a:cubicBezTo>
                <a:cubicBezTo>
                  <a:pt x="75009" y="0"/>
                  <a:pt x="68855" y="6154"/>
                  <a:pt x="68855" y="13771"/>
                </a:cubicBezTo>
                <a:lnTo>
                  <a:pt x="68855" y="173300"/>
                </a:lnTo>
                <a:lnTo>
                  <a:pt x="23497" y="127942"/>
                </a:lnTo>
                <a:cubicBezTo>
                  <a:pt x="18118" y="122563"/>
                  <a:pt x="9382" y="122563"/>
                  <a:pt x="4002" y="127942"/>
                </a:cubicBezTo>
                <a:cubicBezTo>
                  <a:pt x="-1377" y="133321"/>
                  <a:pt x="-1377" y="142057"/>
                  <a:pt x="4002" y="147437"/>
                </a:cubicBezTo>
                <a:lnTo>
                  <a:pt x="72858" y="216292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27" name="Shape 25"/>
          <p:cNvSpPr/>
          <p:nvPr/>
        </p:nvSpPr>
        <p:spPr>
          <a:xfrm>
            <a:off x="1535246" y="364279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8" name="Shape 26"/>
          <p:cNvSpPr/>
          <p:nvPr/>
        </p:nvSpPr>
        <p:spPr>
          <a:xfrm>
            <a:off x="1705090" y="3826411"/>
            <a:ext cx="247880" cy="220337"/>
          </a:xfrm>
          <a:custGeom>
            <a:avLst/>
            <a:gdLst/>
            <a:ahLst/>
            <a:cxnLst/>
            <a:rect l="l" t="t" r="r" b="b"/>
            <a:pathLst>
              <a:path w="247880" h="220337">
                <a:moveTo>
                  <a:pt x="133192" y="-8134"/>
                </a:moveTo>
                <a:cubicBezTo>
                  <a:pt x="131428" y="-11576"/>
                  <a:pt x="127856" y="-13771"/>
                  <a:pt x="123983" y="-13771"/>
                </a:cubicBezTo>
                <a:cubicBezTo>
                  <a:pt x="120110" y="-13771"/>
                  <a:pt x="116538" y="-11576"/>
                  <a:pt x="114773" y="-8134"/>
                </a:cubicBezTo>
                <a:lnTo>
                  <a:pt x="83100" y="53922"/>
                </a:lnTo>
                <a:lnTo>
                  <a:pt x="14288" y="64853"/>
                </a:lnTo>
                <a:cubicBezTo>
                  <a:pt x="10457" y="65456"/>
                  <a:pt x="7273" y="68167"/>
                  <a:pt x="6068" y="71868"/>
                </a:cubicBezTo>
                <a:cubicBezTo>
                  <a:pt x="4863" y="75569"/>
                  <a:pt x="5853" y="79614"/>
                  <a:pt x="8564" y="82368"/>
                </a:cubicBezTo>
                <a:lnTo>
                  <a:pt x="57796" y="131643"/>
                </a:lnTo>
                <a:lnTo>
                  <a:pt x="46951" y="200455"/>
                </a:lnTo>
                <a:cubicBezTo>
                  <a:pt x="46348" y="204285"/>
                  <a:pt x="47941" y="208159"/>
                  <a:pt x="51082" y="210439"/>
                </a:cubicBezTo>
                <a:cubicBezTo>
                  <a:pt x="54224" y="212720"/>
                  <a:pt x="58355" y="213064"/>
                  <a:pt x="61841" y="211300"/>
                </a:cubicBezTo>
                <a:lnTo>
                  <a:pt x="123983" y="179713"/>
                </a:lnTo>
                <a:lnTo>
                  <a:pt x="186082" y="211300"/>
                </a:lnTo>
                <a:cubicBezTo>
                  <a:pt x="189525" y="213064"/>
                  <a:pt x="193699" y="212720"/>
                  <a:pt x="196840" y="210439"/>
                </a:cubicBezTo>
                <a:cubicBezTo>
                  <a:pt x="199982" y="208159"/>
                  <a:pt x="201574" y="204328"/>
                  <a:pt x="200972" y="200455"/>
                </a:cubicBezTo>
                <a:lnTo>
                  <a:pt x="190084" y="131643"/>
                </a:lnTo>
                <a:lnTo>
                  <a:pt x="239316" y="82368"/>
                </a:lnTo>
                <a:cubicBezTo>
                  <a:pt x="242070" y="79614"/>
                  <a:pt x="243017" y="75569"/>
                  <a:pt x="241812" y="71868"/>
                </a:cubicBezTo>
                <a:cubicBezTo>
                  <a:pt x="240607" y="68167"/>
                  <a:pt x="237465" y="65456"/>
                  <a:pt x="233592" y="64853"/>
                </a:cubicBezTo>
                <a:lnTo>
                  <a:pt x="164823" y="53922"/>
                </a:lnTo>
                <a:lnTo>
                  <a:pt x="133192" y="-8134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9" name="Text 27"/>
          <p:cNvSpPr/>
          <p:nvPr/>
        </p:nvSpPr>
        <p:spPr>
          <a:xfrm>
            <a:off x="1428521" y="4340532"/>
            <a:ext cx="798723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 Fact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2719" y="4597592"/>
            <a:ext cx="734458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59546" y="4120195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2" name="Shape 30"/>
          <p:cNvSpPr/>
          <p:nvPr/>
        </p:nvSpPr>
        <p:spPr>
          <a:xfrm>
            <a:off x="4379893" y="364279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33" name="Shape 31"/>
          <p:cNvSpPr/>
          <p:nvPr/>
        </p:nvSpPr>
        <p:spPr>
          <a:xfrm>
            <a:off x="4563508" y="3826411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10169" y="220337"/>
                </a:moveTo>
                <a:cubicBezTo>
                  <a:pt x="170972" y="220337"/>
                  <a:pt x="220337" y="170972"/>
                  <a:pt x="220337" y="110169"/>
                </a:cubicBezTo>
                <a:cubicBezTo>
                  <a:pt x="220337" y="49365"/>
                  <a:pt x="170972" y="0"/>
                  <a:pt x="110169" y="0"/>
                </a:cubicBezTo>
                <a:cubicBezTo>
                  <a:pt x="49365" y="0"/>
                  <a:pt x="0" y="49365"/>
                  <a:pt x="0" y="110169"/>
                </a:cubicBezTo>
                <a:cubicBezTo>
                  <a:pt x="0" y="170972"/>
                  <a:pt x="49365" y="220337"/>
                  <a:pt x="110169" y="220337"/>
                </a:cubicBezTo>
                <a:close/>
                <a:moveTo>
                  <a:pt x="146490" y="91535"/>
                </a:moveTo>
                <a:lnTo>
                  <a:pt x="112062" y="146619"/>
                </a:lnTo>
                <a:cubicBezTo>
                  <a:pt x="110255" y="149502"/>
                  <a:pt x="107156" y="151310"/>
                  <a:pt x="103757" y="151482"/>
                </a:cubicBezTo>
                <a:cubicBezTo>
                  <a:pt x="100357" y="151654"/>
                  <a:pt x="97086" y="150105"/>
                  <a:pt x="95064" y="147351"/>
                </a:cubicBezTo>
                <a:lnTo>
                  <a:pt x="74407" y="119808"/>
                </a:lnTo>
                <a:cubicBezTo>
                  <a:pt x="70964" y="115247"/>
                  <a:pt x="71911" y="108792"/>
                  <a:pt x="76473" y="105349"/>
                </a:cubicBezTo>
                <a:cubicBezTo>
                  <a:pt x="81034" y="101906"/>
                  <a:pt x="87489" y="102853"/>
                  <a:pt x="90932" y="107414"/>
                </a:cubicBezTo>
                <a:lnTo>
                  <a:pt x="102552" y="122907"/>
                </a:lnTo>
                <a:lnTo>
                  <a:pt x="128975" y="80604"/>
                </a:lnTo>
                <a:cubicBezTo>
                  <a:pt x="131987" y="75784"/>
                  <a:pt x="138356" y="74278"/>
                  <a:pt x="143219" y="77333"/>
                </a:cubicBezTo>
                <a:cubicBezTo>
                  <a:pt x="148082" y="80389"/>
                  <a:pt x="149545" y="86715"/>
                  <a:pt x="146490" y="91578"/>
                </a:cubicBezTo>
                <a:close/>
              </a:path>
            </a:pathLst>
          </a:custGeom>
          <a:solidFill>
            <a:srgbClr val="E8E8E8"/>
          </a:solidFill>
        </p:spPr>
      </p:sp>
      <p:sp>
        <p:nvSpPr>
          <p:cNvPr id="34" name="Text 32"/>
          <p:cNvSpPr/>
          <p:nvPr/>
        </p:nvSpPr>
        <p:spPr>
          <a:xfrm>
            <a:off x="4187557" y="4340532"/>
            <a:ext cx="973157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11956" y="4597592"/>
            <a:ext cx="725277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04193" y="4120195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7" name="Shape 35"/>
          <p:cNvSpPr/>
          <p:nvPr/>
        </p:nvSpPr>
        <p:spPr>
          <a:xfrm>
            <a:off x="7224540" y="364279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5F6B7A"/>
          </a:solidFill>
        </p:spPr>
      </p:sp>
      <p:sp>
        <p:nvSpPr>
          <p:cNvPr id="38" name="Shape 36"/>
          <p:cNvSpPr/>
          <p:nvPr/>
        </p:nvSpPr>
        <p:spPr>
          <a:xfrm>
            <a:off x="7394384" y="3826411"/>
            <a:ext cx="247880" cy="220337"/>
          </a:xfrm>
          <a:custGeom>
            <a:avLst/>
            <a:gdLst/>
            <a:ahLst/>
            <a:cxnLst/>
            <a:rect l="l" t="t" r="r" b="b"/>
            <a:pathLst>
              <a:path w="247880" h="220337">
                <a:moveTo>
                  <a:pt x="243834" y="23497"/>
                </a:moveTo>
                <a:cubicBezTo>
                  <a:pt x="249214" y="18118"/>
                  <a:pt x="249214" y="9382"/>
                  <a:pt x="243834" y="4002"/>
                </a:cubicBezTo>
                <a:cubicBezTo>
                  <a:pt x="238455" y="-1377"/>
                  <a:pt x="229719" y="-1377"/>
                  <a:pt x="224340" y="4002"/>
                </a:cubicBezTo>
                <a:lnTo>
                  <a:pt x="141713" y="86629"/>
                </a:lnTo>
                <a:lnTo>
                  <a:pt x="126780" y="71696"/>
                </a:lnTo>
                <a:cubicBezTo>
                  <a:pt x="124973" y="69888"/>
                  <a:pt x="122477" y="68855"/>
                  <a:pt x="119895" y="68855"/>
                </a:cubicBezTo>
                <a:cubicBezTo>
                  <a:pt x="114515" y="68855"/>
                  <a:pt x="110169" y="73202"/>
                  <a:pt x="110169" y="78581"/>
                </a:cubicBezTo>
                <a:lnTo>
                  <a:pt x="110169" y="91104"/>
                </a:lnTo>
                <a:lnTo>
                  <a:pt x="156775" y="137711"/>
                </a:lnTo>
                <a:lnTo>
                  <a:pt x="169298" y="137711"/>
                </a:lnTo>
                <a:cubicBezTo>
                  <a:pt x="174678" y="137711"/>
                  <a:pt x="179024" y="133364"/>
                  <a:pt x="179024" y="127985"/>
                </a:cubicBezTo>
                <a:cubicBezTo>
                  <a:pt x="179024" y="125403"/>
                  <a:pt x="177991" y="122907"/>
                  <a:pt x="176184" y="121099"/>
                </a:cubicBezTo>
                <a:lnTo>
                  <a:pt x="161251" y="106166"/>
                </a:lnTo>
                <a:lnTo>
                  <a:pt x="243877" y="23540"/>
                </a:lnTo>
                <a:close/>
                <a:moveTo>
                  <a:pt x="146791" y="152084"/>
                </a:moveTo>
                <a:lnTo>
                  <a:pt x="95795" y="101088"/>
                </a:lnTo>
                <a:cubicBezTo>
                  <a:pt x="77419" y="99496"/>
                  <a:pt x="59130" y="106123"/>
                  <a:pt x="45961" y="119292"/>
                </a:cubicBezTo>
                <a:lnTo>
                  <a:pt x="42518" y="122735"/>
                </a:lnTo>
                <a:cubicBezTo>
                  <a:pt x="32921" y="132332"/>
                  <a:pt x="27542" y="145328"/>
                  <a:pt x="27542" y="158884"/>
                </a:cubicBezTo>
                <a:cubicBezTo>
                  <a:pt x="27542" y="161810"/>
                  <a:pt x="30598" y="163704"/>
                  <a:pt x="33223" y="162413"/>
                </a:cubicBezTo>
                <a:lnTo>
                  <a:pt x="55213" y="151439"/>
                </a:lnTo>
                <a:cubicBezTo>
                  <a:pt x="57365" y="150363"/>
                  <a:pt x="59302" y="153203"/>
                  <a:pt x="57537" y="154839"/>
                </a:cubicBezTo>
                <a:lnTo>
                  <a:pt x="3142" y="203726"/>
                </a:lnTo>
                <a:cubicBezTo>
                  <a:pt x="1162" y="205533"/>
                  <a:pt x="0" y="208116"/>
                  <a:pt x="0" y="210827"/>
                </a:cubicBezTo>
                <a:cubicBezTo>
                  <a:pt x="0" y="216077"/>
                  <a:pt x="4260" y="220337"/>
                  <a:pt x="9511" y="220337"/>
                </a:cubicBezTo>
                <a:lnTo>
                  <a:pt x="84090" y="220337"/>
                </a:lnTo>
                <a:cubicBezTo>
                  <a:pt x="100787" y="220337"/>
                  <a:pt x="116753" y="213710"/>
                  <a:pt x="128588" y="201919"/>
                </a:cubicBezTo>
                <a:cubicBezTo>
                  <a:pt x="141756" y="188750"/>
                  <a:pt x="148340" y="170460"/>
                  <a:pt x="146791" y="152084"/>
                </a:cubicBezTo>
                <a:close/>
              </a:path>
            </a:pathLst>
          </a:custGeom>
          <a:solidFill>
            <a:srgbClr val="E8E8E8"/>
          </a:solidFill>
        </p:spPr>
      </p:sp>
      <p:sp>
        <p:nvSpPr>
          <p:cNvPr id="39" name="Text 37"/>
          <p:cNvSpPr/>
          <p:nvPr/>
        </p:nvSpPr>
        <p:spPr>
          <a:xfrm>
            <a:off x="7175424" y="4340532"/>
            <a:ext cx="688554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Cleanup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34295" y="4597592"/>
            <a:ext cx="569205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Archive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848840" y="4120195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80243" y="99912"/>
                </a:moveTo>
                <a:cubicBezTo>
                  <a:pt x="184726" y="95429"/>
                  <a:pt x="184726" y="88149"/>
                  <a:pt x="180243" y="83667"/>
                </a:cubicBezTo>
                <a:lnTo>
                  <a:pt x="122864" y="26287"/>
                </a:lnTo>
                <a:cubicBezTo>
                  <a:pt x="118381" y="21804"/>
                  <a:pt x="111101" y="21804"/>
                  <a:pt x="106618" y="26287"/>
                </a:cubicBezTo>
                <a:cubicBezTo>
                  <a:pt x="102136" y="30770"/>
                  <a:pt x="102136" y="38050"/>
                  <a:pt x="106618" y="42533"/>
                </a:cubicBezTo>
                <a:lnTo>
                  <a:pt x="144417" y="80331"/>
                </a:lnTo>
                <a:lnTo>
                  <a:pt x="11476" y="80331"/>
                </a:lnTo>
                <a:cubicBezTo>
                  <a:pt x="5128" y="80331"/>
                  <a:pt x="0" y="85460"/>
                  <a:pt x="0" y="91807"/>
                </a:cubicBezTo>
                <a:cubicBezTo>
                  <a:pt x="0" y="98155"/>
                  <a:pt x="5128" y="103283"/>
                  <a:pt x="11476" y="103283"/>
                </a:cubicBezTo>
                <a:lnTo>
                  <a:pt x="144417" y="103283"/>
                </a:lnTo>
                <a:lnTo>
                  <a:pt x="106618" y="141082"/>
                </a:lnTo>
                <a:cubicBezTo>
                  <a:pt x="102136" y="145565"/>
                  <a:pt x="102136" y="152845"/>
                  <a:pt x="106618" y="157327"/>
                </a:cubicBezTo>
                <a:cubicBezTo>
                  <a:pt x="111101" y="161810"/>
                  <a:pt x="118381" y="161810"/>
                  <a:pt x="122864" y="157327"/>
                </a:cubicBezTo>
                <a:lnTo>
                  <a:pt x="180243" y="99948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2" name="Shape 40"/>
          <p:cNvSpPr/>
          <p:nvPr/>
        </p:nvSpPr>
        <p:spPr>
          <a:xfrm>
            <a:off x="10069188" y="3642797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43" name="Shape 41"/>
          <p:cNvSpPr/>
          <p:nvPr/>
        </p:nvSpPr>
        <p:spPr>
          <a:xfrm>
            <a:off x="10266573" y="3826411"/>
            <a:ext cx="192795" cy="220337"/>
          </a:xfrm>
          <a:custGeom>
            <a:avLst/>
            <a:gdLst/>
            <a:ahLst/>
            <a:cxnLst/>
            <a:rect l="l" t="t" r="r" b="b"/>
            <a:pathLst>
              <a:path w="192795" h="220337">
                <a:moveTo>
                  <a:pt x="13771" y="0"/>
                </a:moveTo>
                <a:cubicBezTo>
                  <a:pt x="21388" y="0"/>
                  <a:pt x="27542" y="6154"/>
                  <a:pt x="27542" y="13771"/>
                </a:cubicBezTo>
                <a:lnTo>
                  <a:pt x="27542" y="20657"/>
                </a:lnTo>
                <a:lnTo>
                  <a:pt x="57236" y="13255"/>
                </a:lnTo>
                <a:cubicBezTo>
                  <a:pt x="73632" y="9166"/>
                  <a:pt x="90932" y="11060"/>
                  <a:pt x="106080" y="18634"/>
                </a:cubicBezTo>
                <a:cubicBezTo>
                  <a:pt x="126005" y="28618"/>
                  <a:pt x="149459" y="28618"/>
                  <a:pt x="169384" y="18634"/>
                </a:cubicBezTo>
                <a:lnTo>
                  <a:pt x="173516" y="16568"/>
                </a:lnTo>
                <a:cubicBezTo>
                  <a:pt x="182381" y="12093"/>
                  <a:pt x="192795" y="18548"/>
                  <a:pt x="192795" y="28446"/>
                </a:cubicBezTo>
                <a:lnTo>
                  <a:pt x="192795" y="148814"/>
                </a:lnTo>
                <a:cubicBezTo>
                  <a:pt x="192795" y="154537"/>
                  <a:pt x="189223" y="159702"/>
                  <a:pt x="183844" y="161724"/>
                </a:cubicBezTo>
                <a:lnTo>
                  <a:pt x="168911" y="167319"/>
                </a:lnTo>
                <a:cubicBezTo>
                  <a:pt x="149029" y="174764"/>
                  <a:pt x="126909" y="173602"/>
                  <a:pt x="107931" y="164134"/>
                </a:cubicBezTo>
                <a:cubicBezTo>
                  <a:pt x="91621" y="155958"/>
                  <a:pt x="72901" y="153935"/>
                  <a:pt x="55213" y="158367"/>
                </a:cubicBezTo>
                <a:lnTo>
                  <a:pt x="27542" y="165253"/>
                </a:lnTo>
                <a:lnTo>
                  <a:pt x="27542" y="206566"/>
                </a:lnTo>
                <a:cubicBezTo>
                  <a:pt x="27542" y="214183"/>
                  <a:pt x="21388" y="220337"/>
                  <a:pt x="13771" y="220337"/>
                </a:cubicBezTo>
                <a:cubicBezTo>
                  <a:pt x="6154" y="220337"/>
                  <a:pt x="0" y="214183"/>
                  <a:pt x="0" y="206566"/>
                </a:cubicBezTo>
                <a:lnTo>
                  <a:pt x="0" y="13771"/>
                </a:lnTo>
                <a:cubicBezTo>
                  <a:pt x="0" y="6154"/>
                  <a:pt x="6154" y="0"/>
                  <a:pt x="13771" y="0"/>
                </a:cubicBezTo>
                <a:close/>
                <a:moveTo>
                  <a:pt x="27542" y="80518"/>
                </a:moveTo>
                <a:lnTo>
                  <a:pt x="55084" y="74536"/>
                </a:lnTo>
                <a:lnTo>
                  <a:pt x="55084" y="102724"/>
                </a:lnTo>
                <a:lnTo>
                  <a:pt x="27542" y="108705"/>
                </a:lnTo>
                <a:lnTo>
                  <a:pt x="27542" y="136893"/>
                </a:lnTo>
                <a:lnTo>
                  <a:pt x="48543" y="131643"/>
                </a:lnTo>
                <a:cubicBezTo>
                  <a:pt x="50738" y="131084"/>
                  <a:pt x="52890" y="130610"/>
                  <a:pt x="55084" y="130223"/>
                </a:cubicBezTo>
                <a:lnTo>
                  <a:pt x="55084" y="102724"/>
                </a:lnTo>
                <a:lnTo>
                  <a:pt x="71825" y="99109"/>
                </a:lnTo>
                <a:cubicBezTo>
                  <a:pt x="75397" y="98334"/>
                  <a:pt x="79012" y="98033"/>
                  <a:pt x="82627" y="98205"/>
                </a:cubicBezTo>
                <a:lnTo>
                  <a:pt x="82627" y="70663"/>
                </a:lnTo>
                <a:cubicBezTo>
                  <a:pt x="88479" y="70835"/>
                  <a:pt x="94332" y="71782"/>
                  <a:pt x="100013" y="73417"/>
                </a:cubicBezTo>
                <a:lnTo>
                  <a:pt x="110169" y="76386"/>
                </a:lnTo>
                <a:lnTo>
                  <a:pt x="110169" y="105091"/>
                </a:lnTo>
                <a:lnTo>
                  <a:pt x="92223" y="99797"/>
                </a:lnTo>
                <a:cubicBezTo>
                  <a:pt x="89082" y="98894"/>
                  <a:pt x="85854" y="98334"/>
                  <a:pt x="82627" y="98162"/>
                </a:cubicBezTo>
                <a:lnTo>
                  <a:pt x="82627" y="128889"/>
                </a:lnTo>
                <a:cubicBezTo>
                  <a:pt x="92008" y="129706"/>
                  <a:pt x="101261" y="131772"/>
                  <a:pt x="110169" y="135086"/>
                </a:cubicBezTo>
                <a:lnTo>
                  <a:pt x="110169" y="105048"/>
                </a:lnTo>
                <a:lnTo>
                  <a:pt x="119938" y="107931"/>
                </a:lnTo>
                <a:cubicBezTo>
                  <a:pt x="125747" y="109652"/>
                  <a:pt x="131686" y="110685"/>
                  <a:pt x="137711" y="111115"/>
                </a:cubicBezTo>
                <a:lnTo>
                  <a:pt x="137711" y="83487"/>
                </a:lnTo>
                <a:cubicBezTo>
                  <a:pt x="134354" y="83143"/>
                  <a:pt x="130997" y="82497"/>
                  <a:pt x="127727" y="81551"/>
                </a:cubicBezTo>
                <a:lnTo>
                  <a:pt x="110169" y="76386"/>
                </a:lnTo>
                <a:lnTo>
                  <a:pt x="110169" y="49705"/>
                </a:lnTo>
                <a:cubicBezTo>
                  <a:pt x="104574" y="48070"/>
                  <a:pt x="99066" y="45918"/>
                  <a:pt x="93729" y="43250"/>
                </a:cubicBezTo>
                <a:cubicBezTo>
                  <a:pt x="90201" y="41485"/>
                  <a:pt x="86457" y="40237"/>
                  <a:pt x="82627" y="39463"/>
                </a:cubicBezTo>
                <a:lnTo>
                  <a:pt x="82627" y="70620"/>
                </a:lnTo>
                <a:cubicBezTo>
                  <a:pt x="77032" y="70448"/>
                  <a:pt x="71437" y="70964"/>
                  <a:pt x="65972" y="72169"/>
                </a:cubicBezTo>
                <a:lnTo>
                  <a:pt x="55084" y="74536"/>
                </a:lnTo>
                <a:lnTo>
                  <a:pt x="55084" y="42174"/>
                </a:lnTo>
                <a:lnTo>
                  <a:pt x="27542" y="49059"/>
                </a:lnTo>
                <a:lnTo>
                  <a:pt x="27542" y="80518"/>
                </a:lnTo>
                <a:close/>
                <a:moveTo>
                  <a:pt x="137711" y="144467"/>
                </a:moveTo>
                <a:cubicBezTo>
                  <a:pt x="144941" y="145113"/>
                  <a:pt x="152300" y="144166"/>
                  <a:pt x="159228" y="141541"/>
                </a:cubicBezTo>
                <a:lnTo>
                  <a:pt x="165253" y="139303"/>
                </a:lnTo>
                <a:lnTo>
                  <a:pt x="165253" y="108447"/>
                </a:lnTo>
                <a:lnTo>
                  <a:pt x="161853" y="109222"/>
                </a:lnTo>
                <a:cubicBezTo>
                  <a:pt x="153935" y="111072"/>
                  <a:pt x="145801" y="111675"/>
                  <a:pt x="137711" y="111158"/>
                </a:cubicBezTo>
                <a:lnTo>
                  <a:pt x="137711" y="144467"/>
                </a:lnTo>
                <a:close/>
                <a:moveTo>
                  <a:pt x="165253" y="80174"/>
                </a:moveTo>
                <a:lnTo>
                  <a:pt x="165253" y="49705"/>
                </a:lnTo>
                <a:cubicBezTo>
                  <a:pt x="156259" y="52330"/>
                  <a:pt x="147006" y="53621"/>
                  <a:pt x="137711" y="53621"/>
                </a:cubicBezTo>
                <a:lnTo>
                  <a:pt x="137711" y="83487"/>
                </a:lnTo>
                <a:cubicBezTo>
                  <a:pt x="143693" y="84090"/>
                  <a:pt x="149761" y="83702"/>
                  <a:pt x="155656" y="82368"/>
                </a:cubicBezTo>
                <a:lnTo>
                  <a:pt x="165253" y="80130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4" name="Text 42"/>
          <p:cNvSpPr/>
          <p:nvPr/>
        </p:nvSpPr>
        <p:spPr>
          <a:xfrm>
            <a:off x="10179816" y="4340532"/>
            <a:ext cx="367229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08825" y="4597592"/>
            <a:ext cx="706916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70901" y="5269619"/>
            <a:ext cx="3688814" cy="1219200"/>
          </a:xfrm>
          <a:custGeom>
            <a:avLst/>
            <a:gdLst/>
            <a:ahLst/>
            <a:cxnLst/>
            <a:rect l="l" t="t" r="r" b="b"/>
            <a:pathLst>
              <a:path w="3688814" h="1219200">
                <a:moveTo>
                  <a:pt x="73445" y="0"/>
                </a:moveTo>
                <a:lnTo>
                  <a:pt x="3615370" y="0"/>
                </a:lnTo>
                <a:cubicBezTo>
                  <a:pt x="3655932" y="0"/>
                  <a:pt x="3688814" y="32882"/>
                  <a:pt x="3688814" y="73445"/>
                </a:cubicBezTo>
                <a:lnTo>
                  <a:pt x="3688814" y="1145755"/>
                </a:lnTo>
                <a:cubicBezTo>
                  <a:pt x="3688814" y="1186318"/>
                  <a:pt x="3655932" y="1219200"/>
                  <a:pt x="3615370" y="1219200"/>
                </a:cubicBezTo>
                <a:lnTo>
                  <a:pt x="73445" y="1219200"/>
                </a:lnTo>
                <a:cubicBezTo>
                  <a:pt x="32909" y="1219200"/>
                  <a:pt x="0" y="1186291"/>
                  <a:pt x="0" y="1145755"/>
                </a:cubicBezTo>
                <a:lnTo>
                  <a:pt x="0" y="73445"/>
                </a:lnTo>
                <a:cubicBezTo>
                  <a:pt x="0" y="32909"/>
                  <a:pt x="32909" y="0"/>
                  <a:pt x="73445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959" y="5475270"/>
            <a:ext cx="247880" cy="220337"/>
          </a:xfrm>
          <a:custGeom>
            <a:avLst/>
            <a:gdLst/>
            <a:ahLst/>
            <a:cxnLst/>
            <a:rect l="l" t="t" r="r" b="b"/>
            <a:pathLst>
              <a:path w="247880" h="220337">
                <a:moveTo>
                  <a:pt x="180530" y="41313"/>
                </a:moveTo>
                <a:cubicBezTo>
                  <a:pt x="173387" y="41313"/>
                  <a:pt x="166458" y="43250"/>
                  <a:pt x="160390" y="46779"/>
                </a:cubicBezTo>
                <a:cubicBezTo>
                  <a:pt x="153591" y="39893"/>
                  <a:pt x="145672" y="34126"/>
                  <a:pt x="136936" y="29780"/>
                </a:cubicBezTo>
                <a:cubicBezTo>
                  <a:pt x="149072" y="19452"/>
                  <a:pt x="164521" y="13771"/>
                  <a:pt x="180530" y="13771"/>
                </a:cubicBezTo>
                <a:cubicBezTo>
                  <a:pt x="217712" y="13771"/>
                  <a:pt x="247880" y="43895"/>
                  <a:pt x="247880" y="81120"/>
                </a:cubicBezTo>
                <a:cubicBezTo>
                  <a:pt x="247880" y="98980"/>
                  <a:pt x="240779" y="116107"/>
                  <a:pt x="228170" y="128717"/>
                </a:cubicBezTo>
                <a:lnTo>
                  <a:pt x="197572" y="159314"/>
                </a:lnTo>
                <a:cubicBezTo>
                  <a:pt x="184963" y="171923"/>
                  <a:pt x="167835" y="179024"/>
                  <a:pt x="149976" y="179024"/>
                </a:cubicBezTo>
                <a:cubicBezTo>
                  <a:pt x="112794" y="179024"/>
                  <a:pt x="82627" y="148900"/>
                  <a:pt x="82627" y="111675"/>
                </a:cubicBezTo>
                <a:cubicBezTo>
                  <a:pt x="82627" y="111029"/>
                  <a:pt x="82627" y="110384"/>
                  <a:pt x="82670" y="109738"/>
                </a:cubicBezTo>
                <a:cubicBezTo>
                  <a:pt x="82885" y="102121"/>
                  <a:pt x="89211" y="96139"/>
                  <a:pt x="96828" y="96355"/>
                </a:cubicBezTo>
                <a:cubicBezTo>
                  <a:pt x="104445" y="96570"/>
                  <a:pt x="110427" y="102896"/>
                  <a:pt x="110212" y="110513"/>
                </a:cubicBezTo>
                <a:cubicBezTo>
                  <a:pt x="110212" y="110900"/>
                  <a:pt x="110212" y="111288"/>
                  <a:pt x="110212" y="111632"/>
                </a:cubicBezTo>
                <a:cubicBezTo>
                  <a:pt x="110212" y="133623"/>
                  <a:pt x="128028" y="151439"/>
                  <a:pt x="150019" y="151439"/>
                </a:cubicBezTo>
                <a:cubicBezTo>
                  <a:pt x="160562" y="151439"/>
                  <a:pt x="170675" y="147265"/>
                  <a:pt x="178163" y="139777"/>
                </a:cubicBezTo>
                <a:lnTo>
                  <a:pt x="208761" y="109179"/>
                </a:lnTo>
                <a:cubicBezTo>
                  <a:pt x="216206" y="101734"/>
                  <a:pt x="220423" y="91578"/>
                  <a:pt x="220423" y="81034"/>
                </a:cubicBezTo>
                <a:cubicBezTo>
                  <a:pt x="220423" y="59044"/>
                  <a:pt x="202607" y="41227"/>
                  <a:pt x="180616" y="41227"/>
                </a:cubicBezTo>
                <a:close/>
                <a:moveTo>
                  <a:pt x="118431" y="74579"/>
                </a:moveTo>
                <a:cubicBezTo>
                  <a:pt x="117614" y="74235"/>
                  <a:pt x="116796" y="73761"/>
                  <a:pt x="116064" y="73245"/>
                </a:cubicBezTo>
                <a:cubicBezTo>
                  <a:pt x="110642" y="70448"/>
                  <a:pt x="104445" y="68855"/>
                  <a:pt x="97947" y="68855"/>
                </a:cubicBezTo>
                <a:cubicBezTo>
                  <a:pt x="87403" y="68855"/>
                  <a:pt x="77290" y="73030"/>
                  <a:pt x="69802" y="80518"/>
                </a:cubicBezTo>
                <a:lnTo>
                  <a:pt x="39205" y="111115"/>
                </a:lnTo>
                <a:cubicBezTo>
                  <a:pt x="31760" y="118560"/>
                  <a:pt x="27542" y="128717"/>
                  <a:pt x="27542" y="139260"/>
                </a:cubicBezTo>
                <a:cubicBezTo>
                  <a:pt x="27542" y="161251"/>
                  <a:pt x="45359" y="179067"/>
                  <a:pt x="67349" y="179067"/>
                </a:cubicBezTo>
                <a:cubicBezTo>
                  <a:pt x="74450" y="179067"/>
                  <a:pt x="81379" y="177174"/>
                  <a:pt x="87446" y="173645"/>
                </a:cubicBezTo>
                <a:cubicBezTo>
                  <a:pt x="94246" y="180530"/>
                  <a:pt x="102164" y="186297"/>
                  <a:pt x="110943" y="190643"/>
                </a:cubicBezTo>
                <a:cubicBezTo>
                  <a:pt x="98808" y="200929"/>
                  <a:pt x="83401" y="206652"/>
                  <a:pt x="67349" y="206652"/>
                </a:cubicBezTo>
                <a:cubicBezTo>
                  <a:pt x="30167" y="206652"/>
                  <a:pt x="0" y="176528"/>
                  <a:pt x="0" y="139303"/>
                </a:cubicBezTo>
                <a:cubicBezTo>
                  <a:pt x="0" y="121444"/>
                  <a:pt x="7101" y="104316"/>
                  <a:pt x="19710" y="91707"/>
                </a:cubicBezTo>
                <a:lnTo>
                  <a:pt x="50307" y="61109"/>
                </a:lnTo>
                <a:cubicBezTo>
                  <a:pt x="62917" y="48500"/>
                  <a:pt x="80044" y="41399"/>
                  <a:pt x="97904" y="41399"/>
                </a:cubicBezTo>
                <a:cubicBezTo>
                  <a:pt x="135172" y="41399"/>
                  <a:pt x="165253" y="71782"/>
                  <a:pt x="165253" y="108921"/>
                </a:cubicBezTo>
                <a:cubicBezTo>
                  <a:pt x="165253" y="109480"/>
                  <a:pt x="165253" y="110040"/>
                  <a:pt x="165253" y="110599"/>
                </a:cubicBezTo>
                <a:cubicBezTo>
                  <a:pt x="165081" y="118216"/>
                  <a:pt x="158755" y="124198"/>
                  <a:pt x="151138" y="124026"/>
                </a:cubicBezTo>
                <a:cubicBezTo>
                  <a:pt x="143521" y="123854"/>
                  <a:pt x="137539" y="117528"/>
                  <a:pt x="137711" y="109910"/>
                </a:cubicBezTo>
                <a:cubicBezTo>
                  <a:pt x="137711" y="109566"/>
                  <a:pt x="137711" y="109265"/>
                  <a:pt x="137711" y="108921"/>
                </a:cubicBezTo>
                <a:cubicBezTo>
                  <a:pt x="137711" y="94418"/>
                  <a:pt x="129965" y="81680"/>
                  <a:pt x="118431" y="74665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48" name="Text 46"/>
          <p:cNvSpPr/>
          <p:nvPr/>
        </p:nvSpPr>
        <p:spPr>
          <a:xfrm>
            <a:off x="943778" y="5456909"/>
            <a:ext cx="1514819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Task Dependencies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8188" y="5824138"/>
            <a:ext cx="3387687" cy="4773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Dimension tables </a:t>
            </a:r>
            <a:r>
              <a:rPr lang="en-US" sz="1155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must load before</a:t>
            </a:r>
            <a:r>
              <a:rPr lang="en-US" sz="115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fact table. Airflow manages execution order automatically.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51249" y="5269619"/>
            <a:ext cx="3688814" cy="1219200"/>
          </a:xfrm>
          <a:custGeom>
            <a:avLst/>
            <a:gdLst/>
            <a:ahLst/>
            <a:cxnLst/>
            <a:rect l="l" t="t" r="r" b="b"/>
            <a:pathLst>
              <a:path w="3688814" h="1219200">
                <a:moveTo>
                  <a:pt x="73445" y="0"/>
                </a:moveTo>
                <a:lnTo>
                  <a:pt x="3615370" y="0"/>
                </a:lnTo>
                <a:cubicBezTo>
                  <a:pt x="3655932" y="0"/>
                  <a:pt x="3688814" y="32882"/>
                  <a:pt x="3688814" y="73445"/>
                </a:cubicBezTo>
                <a:lnTo>
                  <a:pt x="3688814" y="1145755"/>
                </a:lnTo>
                <a:cubicBezTo>
                  <a:pt x="3688814" y="1186318"/>
                  <a:pt x="3655932" y="1219200"/>
                  <a:pt x="3615370" y="1219200"/>
                </a:cubicBezTo>
                <a:lnTo>
                  <a:pt x="73445" y="1219200"/>
                </a:lnTo>
                <a:cubicBezTo>
                  <a:pt x="32909" y="1219200"/>
                  <a:pt x="0" y="1186291"/>
                  <a:pt x="0" y="1145755"/>
                </a:cubicBezTo>
                <a:lnTo>
                  <a:pt x="0" y="73445"/>
                </a:lnTo>
                <a:cubicBezTo>
                  <a:pt x="0" y="32909"/>
                  <a:pt x="32909" y="0"/>
                  <a:pt x="73445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66077" y="5475270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27542" y="27542"/>
                </a:moveTo>
                <a:cubicBezTo>
                  <a:pt x="27542" y="19925"/>
                  <a:pt x="21388" y="13771"/>
                  <a:pt x="13771" y="13771"/>
                </a:cubicBezTo>
                <a:cubicBezTo>
                  <a:pt x="6154" y="13771"/>
                  <a:pt x="0" y="19925"/>
                  <a:pt x="0" y="27542"/>
                </a:cubicBezTo>
                <a:lnTo>
                  <a:pt x="0" y="172139"/>
                </a:lnTo>
                <a:cubicBezTo>
                  <a:pt x="0" y="191160"/>
                  <a:pt x="15406" y="206566"/>
                  <a:pt x="34428" y="206566"/>
                </a:cubicBezTo>
                <a:lnTo>
                  <a:pt x="206566" y="206566"/>
                </a:lnTo>
                <a:cubicBezTo>
                  <a:pt x="214183" y="206566"/>
                  <a:pt x="220337" y="200412"/>
                  <a:pt x="220337" y="192795"/>
                </a:cubicBezTo>
                <a:cubicBezTo>
                  <a:pt x="220337" y="185178"/>
                  <a:pt x="214183" y="179024"/>
                  <a:pt x="206566" y="179024"/>
                </a:cubicBezTo>
                <a:lnTo>
                  <a:pt x="34428" y="179024"/>
                </a:lnTo>
                <a:cubicBezTo>
                  <a:pt x="30641" y="179024"/>
                  <a:pt x="27542" y="175926"/>
                  <a:pt x="27542" y="172139"/>
                </a:cubicBezTo>
                <a:lnTo>
                  <a:pt x="27542" y="27542"/>
                </a:lnTo>
                <a:close/>
                <a:moveTo>
                  <a:pt x="202521" y="64810"/>
                </a:moveTo>
                <a:cubicBezTo>
                  <a:pt x="207900" y="59431"/>
                  <a:pt x="207900" y="50695"/>
                  <a:pt x="202521" y="45315"/>
                </a:cubicBezTo>
                <a:cubicBezTo>
                  <a:pt x="197142" y="39936"/>
                  <a:pt x="188406" y="39936"/>
                  <a:pt x="183026" y="45315"/>
                </a:cubicBezTo>
                <a:lnTo>
                  <a:pt x="137711" y="90674"/>
                </a:lnTo>
                <a:lnTo>
                  <a:pt x="113009" y="66015"/>
                </a:lnTo>
                <a:cubicBezTo>
                  <a:pt x="107630" y="60636"/>
                  <a:pt x="98894" y="60636"/>
                  <a:pt x="93514" y="66015"/>
                </a:cubicBezTo>
                <a:lnTo>
                  <a:pt x="52201" y="107328"/>
                </a:lnTo>
                <a:cubicBezTo>
                  <a:pt x="46822" y="112708"/>
                  <a:pt x="46822" y="121444"/>
                  <a:pt x="52201" y="126823"/>
                </a:cubicBezTo>
                <a:cubicBezTo>
                  <a:pt x="57580" y="132202"/>
                  <a:pt x="66316" y="132202"/>
                  <a:pt x="71696" y="126823"/>
                </a:cubicBezTo>
                <a:lnTo>
                  <a:pt x="103283" y="95236"/>
                </a:lnTo>
                <a:lnTo>
                  <a:pt x="127985" y="119938"/>
                </a:lnTo>
                <a:cubicBezTo>
                  <a:pt x="133364" y="125317"/>
                  <a:pt x="142100" y="125317"/>
                  <a:pt x="147480" y="119938"/>
                </a:cubicBezTo>
                <a:lnTo>
                  <a:pt x="202564" y="64853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52" name="Text 50"/>
          <p:cNvSpPr/>
          <p:nvPr/>
        </p:nvSpPr>
        <p:spPr>
          <a:xfrm>
            <a:off x="4824126" y="5456909"/>
            <a:ext cx="881349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38535" y="5824138"/>
            <a:ext cx="3387687" cy="4773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visibility into task execution, duration tracking, and pipeline performance metrics.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31596" y="5269619"/>
            <a:ext cx="3688814" cy="1219200"/>
          </a:xfrm>
          <a:custGeom>
            <a:avLst/>
            <a:gdLst/>
            <a:ahLst/>
            <a:cxnLst/>
            <a:rect l="l" t="t" r="r" b="b"/>
            <a:pathLst>
              <a:path w="3688814" h="1219200">
                <a:moveTo>
                  <a:pt x="73445" y="0"/>
                </a:moveTo>
                <a:lnTo>
                  <a:pt x="3615370" y="0"/>
                </a:lnTo>
                <a:cubicBezTo>
                  <a:pt x="3655932" y="0"/>
                  <a:pt x="3688814" y="32882"/>
                  <a:pt x="3688814" y="73445"/>
                </a:cubicBezTo>
                <a:lnTo>
                  <a:pt x="3688814" y="1145755"/>
                </a:lnTo>
                <a:cubicBezTo>
                  <a:pt x="3688814" y="1186318"/>
                  <a:pt x="3655932" y="1219200"/>
                  <a:pt x="3615370" y="1219200"/>
                </a:cubicBezTo>
                <a:lnTo>
                  <a:pt x="73445" y="1219200"/>
                </a:lnTo>
                <a:cubicBezTo>
                  <a:pt x="32909" y="1219200"/>
                  <a:pt x="0" y="1186291"/>
                  <a:pt x="0" y="1145755"/>
                </a:cubicBezTo>
                <a:lnTo>
                  <a:pt x="0" y="73445"/>
                </a:lnTo>
                <a:cubicBezTo>
                  <a:pt x="0" y="32909"/>
                  <a:pt x="32909" y="0"/>
                  <a:pt x="7344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46425" y="5475270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10169" y="0"/>
                </a:moveTo>
                <a:cubicBezTo>
                  <a:pt x="112148" y="0"/>
                  <a:pt x="114128" y="430"/>
                  <a:pt x="115935" y="1248"/>
                </a:cubicBezTo>
                <a:lnTo>
                  <a:pt x="197013" y="35633"/>
                </a:lnTo>
                <a:cubicBezTo>
                  <a:pt x="206480" y="39635"/>
                  <a:pt x="213538" y="48973"/>
                  <a:pt x="213495" y="60248"/>
                </a:cubicBezTo>
                <a:cubicBezTo>
                  <a:pt x="213280" y="102939"/>
                  <a:pt x="195722" y="181047"/>
                  <a:pt x="121573" y="216550"/>
                </a:cubicBezTo>
                <a:cubicBezTo>
                  <a:pt x="114386" y="219993"/>
                  <a:pt x="106037" y="219993"/>
                  <a:pt x="98851" y="216550"/>
                </a:cubicBezTo>
                <a:cubicBezTo>
                  <a:pt x="24659" y="181047"/>
                  <a:pt x="7144" y="102939"/>
                  <a:pt x="6929" y="60248"/>
                </a:cubicBezTo>
                <a:cubicBezTo>
                  <a:pt x="6886" y="48973"/>
                  <a:pt x="13943" y="39635"/>
                  <a:pt x="23411" y="35633"/>
                </a:cubicBezTo>
                <a:lnTo>
                  <a:pt x="104445" y="1248"/>
                </a:lnTo>
                <a:cubicBezTo>
                  <a:pt x="106253" y="430"/>
                  <a:pt x="108189" y="0"/>
                  <a:pt x="110169" y="0"/>
                </a:cubicBezTo>
                <a:close/>
                <a:moveTo>
                  <a:pt x="110169" y="28747"/>
                </a:moveTo>
                <a:lnTo>
                  <a:pt x="110169" y="191461"/>
                </a:lnTo>
                <a:cubicBezTo>
                  <a:pt x="169556" y="162714"/>
                  <a:pt x="185522" y="99023"/>
                  <a:pt x="185910" y="60894"/>
                </a:cubicBezTo>
                <a:lnTo>
                  <a:pt x="110169" y="28790"/>
                </a:lnTo>
                <a:lnTo>
                  <a:pt x="110169" y="28790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56" name="Text 54"/>
          <p:cNvSpPr/>
          <p:nvPr/>
        </p:nvSpPr>
        <p:spPr>
          <a:xfrm>
            <a:off x="8704473" y="5456909"/>
            <a:ext cx="1129229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18883" y="5824138"/>
            <a:ext cx="3387687" cy="4773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Automatic retries, failure alerts, and rollback capabilities ensure data pipeline reliability.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240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Outcomes &amp; Deliverables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627370" cy="4084320"/>
          </a:xfrm>
          <a:custGeom>
            <a:avLst/>
            <a:gdLst/>
            <a:ahLst/>
            <a:cxnLst/>
            <a:rect l="l" t="t" r="r" b="b"/>
            <a:pathLst>
              <a:path w="5627370" h="4084320">
                <a:moveTo>
                  <a:pt x="76213" y="0"/>
                </a:moveTo>
                <a:lnTo>
                  <a:pt x="5551157" y="0"/>
                </a:lnTo>
                <a:cubicBezTo>
                  <a:pt x="5593248" y="0"/>
                  <a:pt x="5627370" y="34122"/>
                  <a:pt x="5627370" y="76213"/>
                </a:cubicBezTo>
                <a:lnTo>
                  <a:pt x="5627370" y="4008107"/>
                </a:lnTo>
                <a:cubicBezTo>
                  <a:pt x="5627370" y="4050198"/>
                  <a:pt x="5593248" y="4084320"/>
                  <a:pt x="5551157" y="4084320"/>
                </a:cubicBezTo>
                <a:lnTo>
                  <a:pt x="76213" y="4084320"/>
                </a:lnTo>
                <a:cubicBezTo>
                  <a:pt x="34122" y="4084320"/>
                  <a:pt x="0" y="4050198"/>
                  <a:pt x="0" y="4008107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9595" y="14172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6" name="Text 4"/>
          <p:cNvSpPr/>
          <p:nvPr/>
        </p:nvSpPr>
        <p:spPr>
          <a:xfrm>
            <a:off x="826770" y="1379223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Outcomes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1020" y="17982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17220" y="18744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9" name="Shape 7"/>
          <p:cNvSpPr/>
          <p:nvPr/>
        </p:nvSpPr>
        <p:spPr>
          <a:xfrm>
            <a:off x="735092" y="19791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0" name="Text 8"/>
          <p:cNvSpPr/>
          <p:nvPr/>
        </p:nvSpPr>
        <p:spPr>
          <a:xfrm>
            <a:off x="1112520" y="1874402"/>
            <a:ext cx="432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Fully Functional ETL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2520" y="2103002"/>
            <a:ext cx="432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End-to-end automated data processing from CSV to warehouse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4840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7220" y="25602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4" name="Shape 12"/>
          <p:cNvSpPr/>
          <p:nvPr/>
        </p:nvSpPr>
        <p:spPr>
          <a:xfrm>
            <a:off x="735092" y="26649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5" name="Text 13"/>
          <p:cNvSpPr/>
          <p:nvPr/>
        </p:nvSpPr>
        <p:spPr>
          <a:xfrm>
            <a:off x="1112520" y="2560202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Data Warehouse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2520" y="2788802"/>
            <a:ext cx="4095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 star schema optimized for sales analysis and reporting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020" y="31698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17220" y="32460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9" name="Shape 17"/>
          <p:cNvSpPr/>
          <p:nvPr/>
        </p:nvSpPr>
        <p:spPr>
          <a:xfrm>
            <a:off x="735092" y="33507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1112520" y="3246002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Automated Execution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2520" y="3474602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Scheduled daily runs through Apache Airflow orchestration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1020" y="38556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17220" y="39318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Shape 22"/>
          <p:cNvSpPr/>
          <p:nvPr/>
        </p:nvSpPr>
        <p:spPr>
          <a:xfrm>
            <a:off x="735092" y="40365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1112520" y="3931802"/>
            <a:ext cx="4238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Production-Ready Workflow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2520" y="4160402"/>
            <a:ext cx="4238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Reusable, scalable, and maintainable data engineering solution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1223010"/>
            <a:ext cx="5627370" cy="4084320"/>
          </a:xfrm>
          <a:custGeom>
            <a:avLst/>
            <a:gdLst/>
            <a:ahLst/>
            <a:cxnLst/>
            <a:rect l="l" t="t" r="r" b="b"/>
            <a:pathLst>
              <a:path w="5627370" h="4084320">
                <a:moveTo>
                  <a:pt x="76213" y="0"/>
                </a:moveTo>
                <a:lnTo>
                  <a:pt x="5551157" y="0"/>
                </a:lnTo>
                <a:cubicBezTo>
                  <a:pt x="5593248" y="0"/>
                  <a:pt x="5627370" y="34122"/>
                  <a:pt x="5627370" y="76213"/>
                </a:cubicBezTo>
                <a:lnTo>
                  <a:pt x="5627370" y="4008107"/>
                </a:lnTo>
                <a:cubicBezTo>
                  <a:pt x="5627370" y="4050198"/>
                  <a:pt x="5593248" y="4084320"/>
                  <a:pt x="5551157" y="4084320"/>
                </a:cubicBezTo>
                <a:lnTo>
                  <a:pt x="76213" y="4084320"/>
                </a:lnTo>
                <a:cubicBezTo>
                  <a:pt x="34122" y="4084320"/>
                  <a:pt x="0" y="4050198"/>
                  <a:pt x="0" y="4008107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2220" y="141720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0165" y="105906"/>
                </a:moveTo>
                <a:cubicBezTo>
                  <a:pt x="254809" y="111175"/>
                  <a:pt x="262801" y="112335"/>
                  <a:pt x="268828" y="108362"/>
                </a:cubicBezTo>
                <a:cubicBezTo>
                  <a:pt x="275392" y="103986"/>
                  <a:pt x="277178" y="95101"/>
                  <a:pt x="272802" y="88538"/>
                </a:cubicBezTo>
                <a:lnTo>
                  <a:pt x="251371" y="56391"/>
                </a:lnTo>
                <a:cubicBezTo>
                  <a:pt x="250121" y="54516"/>
                  <a:pt x="248424" y="52953"/>
                  <a:pt x="246415" y="51837"/>
                </a:cubicBezTo>
                <a:lnTo>
                  <a:pt x="156895" y="2098"/>
                </a:lnTo>
                <a:cubicBezTo>
                  <a:pt x="148277" y="-2679"/>
                  <a:pt x="137785" y="-2679"/>
                  <a:pt x="129123" y="2098"/>
                </a:cubicBezTo>
                <a:lnTo>
                  <a:pt x="39648" y="51792"/>
                </a:lnTo>
                <a:cubicBezTo>
                  <a:pt x="37237" y="53132"/>
                  <a:pt x="35317" y="55096"/>
                  <a:pt x="34022" y="57507"/>
                </a:cubicBezTo>
                <a:lnTo>
                  <a:pt x="12368" y="97646"/>
                </a:lnTo>
                <a:cubicBezTo>
                  <a:pt x="6742" y="108094"/>
                  <a:pt x="10671" y="121087"/>
                  <a:pt x="21119" y="126712"/>
                </a:cubicBezTo>
                <a:lnTo>
                  <a:pt x="35853" y="134615"/>
                </a:lnTo>
                <a:lnTo>
                  <a:pt x="35853" y="158413"/>
                </a:lnTo>
                <a:cubicBezTo>
                  <a:pt x="35853" y="168682"/>
                  <a:pt x="41389" y="178192"/>
                  <a:pt x="50319" y="183282"/>
                </a:cubicBezTo>
                <a:lnTo>
                  <a:pt x="128900" y="227796"/>
                </a:lnTo>
                <a:cubicBezTo>
                  <a:pt x="137651" y="232752"/>
                  <a:pt x="148322" y="232752"/>
                  <a:pt x="157073" y="227796"/>
                </a:cubicBezTo>
                <a:lnTo>
                  <a:pt x="235654" y="183282"/>
                </a:lnTo>
                <a:cubicBezTo>
                  <a:pt x="244629" y="178192"/>
                  <a:pt x="250121" y="168726"/>
                  <a:pt x="250121" y="158413"/>
                </a:cubicBezTo>
                <a:lnTo>
                  <a:pt x="250121" y="105951"/>
                </a:lnTo>
                <a:close/>
                <a:moveTo>
                  <a:pt x="143009" y="101531"/>
                </a:moveTo>
                <a:lnTo>
                  <a:pt x="75992" y="64294"/>
                </a:lnTo>
                <a:lnTo>
                  <a:pt x="143009" y="27057"/>
                </a:lnTo>
                <a:lnTo>
                  <a:pt x="210026" y="64294"/>
                </a:lnTo>
                <a:lnTo>
                  <a:pt x="143009" y="101531"/>
                </a:lnTo>
                <a:close/>
                <a:moveTo>
                  <a:pt x="124480" y="123944"/>
                </a:moveTo>
                <a:lnTo>
                  <a:pt x="114970" y="144572"/>
                </a:lnTo>
                <a:lnTo>
                  <a:pt x="40943" y="104924"/>
                </a:lnTo>
                <a:lnTo>
                  <a:pt x="52283" y="83850"/>
                </a:lnTo>
                <a:lnTo>
                  <a:pt x="124480" y="123944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29" name="Text 27"/>
          <p:cNvSpPr/>
          <p:nvPr/>
        </p:nvSpPr>
        <p:spPr>
          <a:xfrm>
            <a:off x="6617970" y="1379223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2220" y="17982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08420" y="19125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515576" y="20077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33" name="Text 31"/>
          <p:cNvSpPr/>
          <p:nvPr/>
        </p:nvSpPr>
        <p:spPr>
          <a:xfrm>
            <a:off x="6903720" y="1874402"/>
            <a:ext cx="3952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ETL Scripts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2103002"/>
            <a:ext cx="3952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 extraction, transformation, and loading modules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2220" y="24840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408420" y="2598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515576" y="26935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38" name="Text 36"/>
          <p:cNvSpPr/>
          <p:nvPr/>
        </p:nvSpPr>
        <p:spPr>
          <a:xfrm>
            <a:off x="6903720" y="2560202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 Schema Scripts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2788802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DDL for star schema creation and constraints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2220" y="31698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408420" y="3284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503670" y="3379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11906"/>
                </a:moveTo>
                <a:cubicBezTo>
                  <a:pt x="107156" y="18492"/>
                  <a:pt x="112477" y="23812"/>
                  <a:pt x="119063" y="23812"/>
                </a:cubicBezTo>
                <a:lnTo>
                  <a:pt x="133945" y="23812"/>
                </a:lnTo>
                <a:cubicBezTo>
                  <a:pt x="138894" y="23812"/>
                  <a:pt x="142875" y="27794"/>
                  <a:pt x="142875" y="32742"/>
                </a:cubicBezTo>
                <a:cubicBezTo>
                  <a:pt x="142875" y="37691"/>
                  <a:pt x="138894" y="41672"/>
                  <a:pt x="133945" y="41672"/>
                </a:cubicBezTo>
                <a:lnTo>
                  <a:pt x="11906" y="41672"/>
                </a:lnTo>
                <a:cubicBezTo>
                  <a:pt x="5321" y="41672"/>
                  <a:pt x="0" y="46992"/>
                  <a:pt x="0" y="53578"/>
                </a:cubicBezTo>
                <a:cubicBezTo>
                  <a:pt x="0" y="60164"/>
                  <a:pt x="5321" y="65484"/>
                  <a:pt x="11906" y="65484"/>
                </a:cubicBezTo>
                <a:lnTo>
                  <a:pt x="133945" y="65484"/>
                </a:lnTo>
                <a:cubicBezTo>
                  <a:pt x="152028" y="65484"/>
                  <a:pt x="166688" y="50825"/>
                  <a:pt x="166688" y="32742"/>
                </a:cubicBezTo>
                <a:cubicBezTo>
                  <a:pt x="166688" y="14660"/>
                  <a:pt x="152028" y="0"/>
                  <a:pt x="133945" y="0"/>
                </a:cubicBezTo>
                <a:lnTo>
                  <a:pt x="119063" y="0"/>
                </a:lnTo>
                <a:cubicBezTo>
                  <a:pt x="112477" y="0"/>
                  <a:pt x="107156" y="5321"/>
                  <a:pt x="107156" y="11906"/>
                </a:cubicBezTo>
                <a:close/>
                <a:moveTo>
                  <a:pt x="130969" y="142875"/>
                </a:moveTo>
                <a:cubicBezTo>
                  <a:pt x="130969" y="149461"/>
                  <a:pt x="136289" y="154781"/>
                  <a:pt x="142875" y="154781"/>
                </a:cubicBezTo>
                <a:lnTo>
                  <a:pt x="154781" y="154781"/>
                </a:lnTo>
                <a:cubicBezTo>
                  <a:pt x="174501" y="154781"/>
                  <a:pt x="190500" y="138782"/>
                  <a:pt x="190500" y="119063"/>
                </a:cubicBezTo>
                <a:cubicBezTo>
                  <a:pt x="190500" y="99343"/>
                  <a:pt x="174501" y="83344"/>
                  <a:pt x="154781" y="83344"/>
                </a:cubicBez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42875" y="130969"/>
                </a:lnTo>
                <a:cubicBezTo>
                  <a:pt x="136289" y="130969"/>
                  <a:pt x="130969" y="136289"/>
                  <a:pt x="130969" y="142875"/>
                </a:cubicBezTo>
                <a:close/>
                <a:moveTo>
                  <a:pt x="47625" y="190500"/>
                </a:moveTo>
                <a:lnTo>
                  <a:pt x="62508" y="190500"/>
                </a:lnTo>
                <a:cubicBezTo>
                  <a:pt x="80590" y="190500"/>
                  <a:pt x="95250" y="175840"/>
                  <a:pt x="95250" y="157758"/>
                </a:cubicBezTo>
                <a:cubicBezTo>
                  <a:pt x="95250" y="139675"/>
                  <a:pt x="80590" y="125016"/>
                  <a:pt x="62508" y="125016"/>
                </a:cubicBezTo>
                <a:lnTo>
                  <a:pt x="11906" y="125016"/>
                </a:lnTo>
                <a:cubicBezTo>
                  <a:pt x="5321" y="125016"/>
                  <a:pt x="0" y="130336"/>
                  <a:pt x="0" y="136922"/>
                </a:cubicBezTo>
                <a:cubicBezTo>
                  <a:pt x="0" y="143508"/>
                  <a:pt x="5321" y="148828"/>
                  <a:pt x="11906" y="148828"/>
                </a:cubicBezTo>
                <a:lnTo>
                  <a:pt x="62508" y="148828"/>
                </a:lnTo>
                <a:cubicBezTo>
                  <a:pt x="67456" y="148828"/>
                  <a:pt x="71438" y="152809"/>
                  <a:pt x="71438" y="157758"/>
                </a:cubicBezTo>
                <a:cubicBezTo>
                  <a:pt x="71438" y="162706"/>
                  <a:pt x="67456" y="166688"/>
                  <a:pt x="62508" y="166688"/>
                </a:cubicBezTo>
                <a:lnTo>
                  <a:pt x="47625" y="166688"/>
                </a:lnTo>
                <a:cubicBezTo>
                  <a:pt x="41039" y="166688"/>
                  <a:pt x="35719" y="172008"/>
                  <a:pt x="35719" y="178594"/>
                </a:cubicBezTo>
                <a:cubicBezTo>
                  <a:pt x="35719" y="185179"/>
                  <a:pt x="41039" y="190500"/>
                  <a:pt x="47625" y="19050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43" name="Text 41"/>
          <p:cNvSpPr/>
          <p:nvPr/>
        </p:nvSpPr>
        <p:spPr>
          <a:xfrm>
            <a:off x="6903720" y="3246002"/>
            <a:ext cx="3267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Airflow DAG File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3720" y="3474602"/>
            <a:ext cx="3267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Workflow orchestration with task dependencies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2220" y="38556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408420" y="39699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91764" y="40651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48" name="Text 46"/>
          <p:cNvSpPr/>
          <p:nvPr/>
        </p:nvSpPr>
        <p:spPr>
          <a:xfrm>
            <a:off x="6903720" y="3931802"/>
            <a:ext cx="3438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 Dataset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03720" y="4160402"/>
            <a:ext cx="3438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Northwind CSV files for testing and demonstration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2220" y="4541402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533400"/>
                </a:lnTo>
                <a:cubicBezTo>
                  <a:pt x="5314950" y="575456"/>
                  <a:pt x="5280806" y="609600"/>
                  <a:pt x="52387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08420" y="46557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515576" y="47509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5F6B7A"/>
          </a:solidFill>
        </p:spPr>
      </p:sp>
      <p:sp>
        <p:nvSpPr>
          <p:cNvPr id="53" name="Text 51"/>
          <p:cNvSpPr/>
          <p:nvPr/>
        </p:nvSpPr>
        <p:spPr>
          <a:xfrm>
            <a:off x="6903720" y="4617602"/>
            <a:ext cx="3876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03720" y="4846202"/>
            <a:ext cx="3876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Setup instructions, architecture diagrams, and user guide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4810" y="5429130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30196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31482" y="5547243"/>
            <a:ext cx="2638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4820" y="5928243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Source Tables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80410" y="5429130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30196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27083" y="5547243"/>
            <a:ext cx="2638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360420" y="5928243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Warehouse Tables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6010" y="5429130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4C8DAE">
                  <a:alpha val="5000"/>
                </a:srgbClr>
              </a:gs>
            </a:gsLst>
            <a:lin ang="2700000" scaled="1"/>
          </a:gra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22682" y="5547243"/>
            <a:ext cx="2638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56020" y="5928243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DAG Tasks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71610" y="5429130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B88A53">
                  <a:alpha val="20000"/>
                </a:srgbClr>
              </a:gs>
              <a:gs pos="100000">
                <a:srgbClr val="B88A53">
                  <a:alpha val="5000"/>
                </a:srgbClr>
              </a:gs>
            </a:gsLst>
            <a:lin ang="2700000" scaled="1"/>
          </a:gra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18282" y="5547243"/>
            <a:ext cx="2638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151620" y="5928243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Automated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kern="0" spc="224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Value &amp;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39842" cy="356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Benefits &amp; Future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793" y="1143501"/>
            <a:ext cx="5662289" cy="4513445"/>
          </a:xfrm>
          <a:custGeom>
            <a:avLst/>
            <a:gdLst/>
            <a:ahLst/>
            <a:cxnLst/>
            <a:rect l="l" t="t" r="r" b="b"/>
            <a:pathLst>
              <a:path w="5662289" h="4513445">
                <a:moveTo>
                  <a:pt x="71267" y="0"/>
                </a:moveTo>
                <a:lnTo>
                  <a:pt x="5591022" y="0"/>
                </a:lnTo>
                <a:cubicBezTo>
                  <a:pt x="5630382" y="0"/>
                  <a:pt x="5662289" y="31907"/>
                  <a:pt x="5662289" y="71267"/>
                </a:cubicBezTo>
                <a:lnTo>
                  <a:pt x="5662289" y="4442177"/>
                </a:lnTo>
                <a:cubicBezTo>
                  <a:pt x="5662289" y="4481537"/>
                  <a:pt x="5630382" y="4513445"/>
                  <a:pt x="5591022" y="4513445"/>
                </a:cubicBezTo>
                <a:lnTo>
                  <a:pt x="71267" y="4513445"/>
                </a:lnTo>
                <a:cubicBezTo>
                  <a:pt x="31907" y="4513445"/>
                  <a:pt x="0" y="4481537"/>
                  <a:pt x="0" y="4442177"/>
                </a:cubicBezTo>
                <a:lnTo>
                  <a:pt x="0" y="71267"/>
                </a:lnTo>
                <a:cubicBezTo>
                  <a:pt x="0" y="31934"/>
                  <a:pt x="31934" y="0"/>
                  <a:pt x="71267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924" y="1325068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102653" y="-10812"/>
                </a:moveTo>
                <a:cubicBezTo>
                  <a:pt x="97059" y="-14235"/>
                  <a:pt x="90004" y="-14235"/>
                  <a:pt x="84410" y="-10812"/>
                </a:cubicBezTo>
                <a:cubicBezTo>
                  <a:pt x="74224" y="-4592"/>
                  <a:pt x="67920" y="-2922"/>
                  <a:pt x="55981" y="-3173"/>
                </a:cubicBezTo>
                <a:cubicBezTo>
                  <a:pt x="49427" y="-3340"/>
                  <a:pt x="43332" y="209"/>
                  <a:pt x="40159" y="5970"/>
                </a:cubicBezTo>
                <a:cubicBezTo>
                  <a:pt x="34440" y="16448"/>
                  <a:pt x="29807" y="21082"/>
                  <a:pt x="19328" y="26801"/>
                </a:cubicBezTo>
                <a:cubicBezTo>
                  <a:pt x="13567" y="29932"/>
                  <a:pt x="10061" y="36068"/>
                  <a:pt x="10186" y="42622"/>
                </a:cubicBezTo>
                <a:cubicBezTo>
                  <a:pt x="10478" y="54562"/>
                  <a:pt x="8767" y="60865"/>
                  <a:pt x="2546" y="71051"/>
                </a:cubicBezTo>
                <a:cubicBezTo>
                  <a:pt x="-877" y="76645"/>
                  <a:pt x="-877" y="83700"/>
                  <a:pt x="2546" y="89294"/>
                </a:cubicBezTo>
                <a:cubicBezTo>
                  <a:pt x="8767" y="99480"/>
                  <a:pt x="10436" y="105784"/>
                  <a:pt x="10186" y="117723"/>
                </a:cubicBezTo>
                <a:cubicBezTo>
                  <a:pt x="10019" y="124277"/>
                  <a:pt x="13567" y="130372"/>
                  <a:pt x="19328" y="133545"/>
                </a:cubicBezTo>
                <a:cubicBezTo>
                  <a:pt x="28554" y="138596"/>
                  <a:pt x="33230" y="142771"/>
                  <a:pt x="38156" y="150869"/>
                </a:cubicBezTo>
                <a:lnTo>
                  <a:pt x="17825" y="191404"/>
                </a:lnTo>
                <a:cubicBezTo>
                  <a:pt x="15362" y="196372"/>
                  <a:pt x="17366" y="202384"/>
                  <a:pt x="22292" y="204847"/>
                </a:cubicBezTo>
                <a:lnTo>
                  <a:pt x="58194" y="222797"/>
                </a:lnTo>
                <a:cubicBezTo>
                  <a:pt x="62994" y="225177"/>
                  <a:pt x="68839" y="223382"/>
                  <a:pt x="71427" y="218706"/>
                </a:cubicBezTo>
                <a:lnTo>
                  <a:pt x="93469" y="179006"/>
                </a:lnTo>
                <a:lnTo>
                  <a:pt x="115511" y="218706"/>
                </a:lnTo>
                <a:cubicBezTo>
                  <a:pt x="118099" y="223382"/>
                  <a:pt x="123943" y="225219"/>
                  <a:pt x="128744" y="222797"/>
                </a:cubicBezTo>
                <a:lnTo>
                  <a:pt x="164645" y="204847"/>
                </a:lnTo>
                <a:cubicBezTo>
                  <a:pt x="169613" y="202384"/>
                  <a:pt x="171617" y="196372"/>
                  <a:pt x="169112" y="191404"/>
                </a:cubicBezTo>
                <a:lnTo>
                  <a:pt x="148824" y="150828"/>
                </a:lnTo>
                <a:cubicBezTo>
                  <a:pt x="153708" y="142729"/>
                  <a:pt x="158425" y="138554"/>
                  <a:pt x="167651" y="133503"/>
                </a:cubicBezTo>
                <a:cubicBezTo>
                  <a:pt x="173412" y="130372"/>
                  <a:pt x="176919" y="124236"/>
                  <a:pt x="176793" y="117681"/>
                </a:cubicBezTo>
                <a:cubicBezTo>
                  <a:pt x="176501" y="105742"/>
                  <a:pt x="178213" y="99438"/>
                  <a:pt x="184433" y="89253"/>
                </a:cubicBezTo>
                <a:cubicBezTo>
                  <a:pt x="187856" y="83659"/>
                  <a:pt x="187856" y="76604"/>
                  <a:pt x="184433" y="71010"/>
                </a:cubicBezTo>
                <a:cubicBezTo>
                  <a:pt x="178213" y="60824"/>
                  <a:pt x="176543" y="54520"/>
                  <a:pt x="176793" y="42581"/>
                </a:cubicBezTo>
                <a:cubicBezTo>
                  <a:pt x="176960" y="36027"/>
                  <a:pt x="173412" y="29932"/>
                  <a:pt x="167651" y="26759"/>
                </a:cubicBezTo>
                <a:cubicBezTo>
                  <a:pt x="157173" y="21040"/>
                  <a:pt x="152539" y="16406"/>
                  <a:pt x="146820" y="5928"/>
                </a:cubicBezTo>
                <a:cubicBezTo>
                  <a:pt x="143689" y="167"/>
                  <a:pt x="137552" y="-3340"/>
                  <a:pt x="130998" y="-3214"/>
                </a:cubicBezTo>
                <a:cubicBezTo>
                  <a:pt x="119059" y="-2922"/>
                  <a:pt x="112755" y="-4634"/>
                  <a:pt x="102569" y="-10854"/>
                </a:cubicBezTo>
                <a:close/>
                <a:moveTo>
                  <a:pt x="93511" y="40076"/>
                </a:moveTo>
                <a:cubicBezTo>
                  <a:pt x="115629" y="40076"/>
                  <a:pt x="133587" y="58033"/>
                  <a:pt x="133587" y="80152"/>
                </a:cubicBezTo>
                <a:cubicBezTo>
                  <a:pt x="133587" y="102270"/>
                  <a:pt x="115629" y="120228"/>
                  <a:pt x="93511" y="120228"/>
                </a:cubicBezTo>
                <a:cubicBezTo>
                  <a:pt x="71392" y="120228"/>
                  <a:pt x="53435" y="102270"/>
                  <a:pt x="53435" y="80152"/>
                </a:cubicBezTo>
                <a:cubicBezTo>
                  <a:pt x="53435" y="58033"/>
                  <a:pt x="71392" y="40076"/>
                  <a:pt x="93511" y="40076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6" name="Text 4"/>
          <p:cNvSpPr/>
          <p:nvPr/>
        </p:nvSpPr>
        <p:spPr>
          <a:xfrm>
            <a:off x="773021" y="1289558"/>
            <a:ext cx="5209876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5848" y="1681303"/>
            <a:ext cx="5370180" cy="748085"/>
          </a:xfrm>
          <a:custGeom>
            <a:avLst/>
            <a:gdLst/>
            <a:ahLst/>
            <a:cxnLst/>
            <a:rect l="l" t="t" r="r" b="b"/>
            <a:pathLst>
              <a:path w="5370180" h="748085">
                <a:moveTo>
                  <a:pt x="71248" y="0"/>
                </a:moveTo>
                <a:lnTo>
                  <a:pt x="5298932" y="0"/>
                </a:lnTo>
                <a:cubicBezTo>
                  <a:pt x="5338281" y="0"/>
                  <a:pt x="5370180" y="31899"/>
                  <a:pt x="5370180" y="71248"/>
                </a:cubicBezTo>
                <a:lnTo>
                  <a:pt x="5370180" y="676837"/>
                </a:lnTo>
                <a:cubicBezTo>
                  <a:pt x="5370180" y="716186"/>
                  <a:pt x="5338281" y="748085"/>
                  <a:pt x="5298932" y="748085"/>
                </a:cubicBezTo>
                <a:lnTo>
                  <a:pt x="71248" y="748085"/>
                </a:lnTo>
                <a:cubicBezTo>
                  <a:pt x="31899" y="748085"/>
                  <a:pt x="0" y="716186"/>
                  <a:pt x="0" y="67683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77094" y="1752550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9" name="Shape 7"/>
          <p:cNvSpPr/>
          <p:nvPr/>
        </p:nvSpPr>
        <p:spPr>
          <a:xfrm>
            <a:off x="683963" y="1859419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0" name="Text 8"/>
          <p:cNvSpPr/>
          <p:nvPr/>
        </p:nvSpPr>
        <p:spPr>
          <a:xfrm>
            <a:off x="1040194" y="1752550"/>
            <a:ext cx="483583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Real-World ETL Experience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0194" y="1966288"/>
            <a:ext cx="4835833" cy="391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Demonstrates complete pipeline from normalized source to analytics-ready warehouse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848" y="2500634"/>
            <a:ext cx="5370180" cy="748085"/>
          </a:xfrm>
          <a:custGeom>
            <a:avLst/>
            <a:gdLst/>
            <a:ahLst/>
            <a:cxnLst/>
            <a:rect l="l" t="t" r="r" b="b"/>
            <a:pathLst>
              <a:path w="5370180" h="748085">
                <a:moveTo>
                  <a:pt x="71248" y="0"/>
                </a:moveTo>
                <a:lnTo>
                  <a:pt x="5298932" y="0"/>
                </a:lnTo>
                <a:cubicBezTo>
                  <a:pt x="5338281" y="0"/>
                  <a:pt x="5370180" y="31899"/>
                  <a:pt x="5370180" y="71248"/>
                </a:cubicBezTo>
                <a:lnTo>
                  <a:pt x="5370180" y="676837"/>
                </a:lnTo>
                <a:cubicBezTo>
                  <a:pt x="5370180" y="716186"/>
                  <a:pt x="5338281" y="748085"/>
                  <a:pt x="5298932" y="748085"/>
                </a:cubicBezTo>
                <a:lnTo>
                  <a:pt x="71248" y="748085"/>
                </a:lnTo>
                <a:cubicBezTo>
                  <a:pt x="31899" y="748085"/>
                  <a:pt x="0" y="716186"/>
                  <a:pt x="0" y="67683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77094" y="2571880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4" name="Shape 12"/>
          <p:cNvSpPr/>
          <p:nvPr/>
        </p:nvSpPr>
        <p:spPr>
          <a:xfrm>
            <a:off x="683963" y="267875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5" name="Text 13"/>
          <p:cNvSpPr/>
          <p:nvPr/>
        </p:nvSpPr>
        <p:spPr>
          <a:xfrm>
            <a:off x="1040194" y="2571880"/>
            <a:ext cx="483583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Workflow Automation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0194" y="2785619"/>
            <a:ext cx="4835833" cy="391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Showcases Apache Airflow orchestration for production-grade data pipelines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5848" y="3319965"/>
            <a:ext cx="5370180" cy="748085"/>
          </a:xfrm>
          <a:custGeom>
            <a:avLst/>
            <a:gdLst/>
            <a:ahLst/>
            <a:cxnLst/>
            <a:rect l="l" t="t" r="r" b="b"/>
            <a:pathLst>
              <a:path w="5370180" h="748085">
                <a:moveTo>
                  <a:pt x="71248" y="0"/>
                </a:moveTo>
                <a:lnTo>
                  <a:pt x="5298932" y="0"/>
                </a:lnTo>
                <a:cubicBezTo>
                  <a:pt x="5338281" y="0"/>
                  <a:pt x="5370180" y="31899"/>
                  <a:pt x="5370180" y="71248"/>
                </a:cubicBezTo>
                <a:lnTo>
                  <a:pt x="5370180" y="676837"/>
                </a:lnTo>
                <a:cubicBezTo>
                  <a:pt x="5370180" y="716186"/>
                  <a:pt x="5338281" y="748085"/>
                  <a:pt x="5298932" y="748085"/>
                </a:cubicBezTo>
                <a:lnTo>
                  <a:pt x="71248" y="748085"/>
                </a:lnTo>
                <a:cubicBezTo>
                  <a:pt x="31899" y="748085"/>
                  <a:pt x="0" y="716186"/>
                  <a:pt x="0" y="67683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77094" y="3391211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19" name="Shape 17"/>
          <p:cNvSpPr/>
          <p:nvPr/>
        </p:nvSpPr>
        <p:spPr>
          <a:xfrm>
            <a:off x="683963" y="3498081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1040194" y="3391211"/>
            <a:ext cx="483583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Warehouse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0194" y="3604950"/>
            <a:ext cx="4835833" cy="391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Applies dimensional modeling principles with Star Schema and Fact/Dimension tables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5848" y="4139296"/>
            <a:ext cx="5370180" cy="552158"/>
          </a:xfrm>
          <a:custGeom>
            <a:avLst/>
            <a:gdLst/>
            <a:ahLst/>
            <a:cxnLst/>
            <a:rect l="l" t="t" r="r" b="b"/>
            <a:pathLst>
              <a:path w="5370180" h="552158">
                <a:moveTo>
                  <a:pt x="71245" y="0"/>
                </a:moveTo>
                <a:lnTo>
                  <a:pt x="5298935" y="0"/>
                </a:lnTo>
                <a:cubicBezTo>
                  <a:pt x="5338282" y="0"/>
                  <a:pt x="5370180" y="31897"/>
                  <a:pt x="5370180" y="71245"/>
                </a:cubicBezTo>
                <a:lnTo>
                  <a:pt x="5370180" y="480913"/>
                </a:lnTo>
                <a:cubicBezTo>
                  <a:pt x="5370180" y="520260"/>
                  <a:pt x="5338282" y="552158"/>
                  <a:pt x="5298935" y="552158"/>
                </a:cubicBezTo>
                <a:lnTo>
                  <a:pt x="71245" y="552158"/>
                </a:lnTo>
                <a:cubicBezTo>
                  <a:pt x="31924" y="552158"/>
                  <a:pt x="0" y="520234"/>
                  <a:pt x="0" y="480913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77094" y="4210542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4" name="Shape 22"/>
          <p:cNvSpPr/>
          <p:nvPr/>
        </p:nvSpPr>
        <p:spPr>
          <a:xfrm>
            <a:off x="683963" y="431741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1040194" y="4210542"/>
            <a:ext cx="4826928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Advanced SQL Skills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94" y="4424281"/>
            <a:ext cx="4826928" cy="195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Strengthens complex query writing, schema design, and data transformation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5848" y="4762700"/>
            <a:ext cx="5370180" cy="748085"/>
          </a:xfrm>
          <a:custGeom>
            <a:avLst/>
            <a:gdLst/>
            <a:ahLst/>
            <a:cxnLst/>
            <a:rect l="l" t="t" r="r" b="b"/>
            <a:pathLst>
              <a:path w="5370180" h="748085">
                <a:moveTo>
                  <a:pt x="71248" y="0"/>
                </a:moveTo>
                <a:lnTo>
                  <a:pt x="5298932" y="0"/>
                </a:lnTo>
                <a:cubicBezTo>
                  <a:pt x="5338281" y="0"/>
                  <a:pt x="5370180" y="31899"/>
                  <a:pt x="5370180" y="71248"/>
                </a:cubicBezTo>
                <a:lnTo>
                  <a:pt x="5370180" y="676837"/>
                </a:lnTo>
                <a:cubicBezTo>
                  <a:pt x="5370180" y="716186"/>
                  <a:pt x="5338281" y="748085"/>
                  <a:pt x="5298932" y="748085"/>
                </a:cubicBezTo>
                <a:lnTo>
                  <a:pt x="71248" y="748085"/>
                </a:lnTo>
                <a:cubicBezTo>
                  <a:pt x="31899" y="748085"/>
                  <a:pt x="0" y="716186"/>
                  <a:pt x="0" y="67683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577094" y="4833946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29" name="Shape 27"/>
          <p:cNvSpPr/>
          <p:nvPr/>
        </p:nvSpPr>
        <p:spPr>
          <a:xfrm>
            <a:off x="683963" y="4940815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0" name="Text 28"/>
          <p:cNvSpPr/>
          <p:nvPr/>
        </p:nvSpPr>
        <p:spPr>
          <a:xfrm>
            <a:off x="1040194" y="4833946"/>
            <a:ext cx="483583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BI Foundation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0194" y="5047685"/>
            <a:ext cx="4835833" cy="391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Builds foundation for business intelligence dashboards and analytics platforms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0252" y="1143501"/>
            <a:ext cx="5662289" cy="4513445"/>
          </a:xfrm>
          <a:custGeom>
            <a:avLst/>
            <a:gdLst/>
            <a:ahLst/>
            <a:cxnLst/>
            <a:rect l="l" t="t" r="r" b="b"/>
            <a:pathLst>
              <a:path w="5662289" h="4513445">
                <a:moveTo>
                  <a:pt x="71267" y="0"/>
                </a:moveTo>
                <a:lnTo>
                  <a:pt x="5591022" y="0"/>
                </a:lnTo>
                <a:cubicBezTo>
                  <a:pt x="5630382" y="0"/>
                  <a:pt x="5662289" y="31907"/>
                  <a:pt x="5662289" y="71267"/>
                </a:cubicBezTo>
                <a:lnTo>
                  <a:pt x="5662289" y="4442177"/>
                </a:lnTo>
                <a:cubicBezTo>
                  <a:pt x="5662289" y="4481537"/>
                  <a:pt x="5630382" y="4513445"/>
                  <a:pt x="5591022" y="4513445"/>
                </a:cubicBezTo>
                <a:lnTo>
                  <a:pt x="71267" y="4513445"/>
                </a:lnTo>
                <a:cubicBezTo>
                  <a:pt x="31907" y="4513445"/>
                  <a:pt x="0" y="4481537"/>
                  <a:pt x="0" y="4442177"/>
                </a:cubicBezTo>
                <a:lnTo>
                  <a:pt x="0" y="71267"/>
                </a:lnTo>
                <a:cubicBezTo>
                  <a:pt x="0" y="31934"/>
                  <a:pt x="31934" y="0"/>
                  <a:pt x="71267" y="0"/>
                </a:cubicBezTo>
                <a:close/>
              </a:path>
            </a:pathLst>
          </a:custGeom>
          <a:solidFill>
            <a:srgbClr val="B88A53">
              <a:alpha val="10196"/>
            </a:srgbClr>
          </a:solidFill>
          <a:ln w="10160">
            <a:solidFill>
              <a:srgbClr val="B88A53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3024" y="1325068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53435" y="133587"/>
                </a:moveTo>
                <a:lnTo>
                  <a:pt x="10228" y="133587"/>
                </a:lnTo>
                <a:cubicBezTo>
                  <a:pt x="-167" y="133587"/>
                  <a:pt x="-6554" y="122273"/>
                  <a:pt x="-1211" y="113340"/>
                </a:cubicBezTo>
                <a:lnTo>
                  <a:pt x="20873" y="76520"/>
                </a:lnTo>
                <a:cubicBezTo>
                  <a:pt x="24505" y="70467"/>
                  <a:pt x="31017" y="66793"/>
                  <a:pt x="38072" y="66793"/>
                </a:cubicBezTo>
                <a:lnTo>
                  <a:pt x="77731" y="66793"/>
                </a:lnTo>
                <a:cubicBezTo>
                  <a:pt x="109499" y="12983"/>
                  <a:pt x="156881" y="10269"/>
                  <a:pt x="188566" y="14903"/>
                </a:cubicBezTo>
                <a:cubicBezTo>
                  <a:pt x="193909" y="15696"/>
                  <a:pt x="198084" y="19871"/>
                  <a:pt x="198835" y="25173"/>
                </a:cubicBezTo>
                <a:cubicBezTo>
                  <a:pt x="203469" y="56858"/>
                  <a:pt x="200756" y="104239"/>
                  <a:pt x="146945" y="136008"/>
                </a:cubicBezTo>
                <a:lnTo>
                  <a:pt x="146945" y="175666"/>
                </a:lnTo>
                <a:cubicBezTo>
                  <a:pt x="146945" y="182721"/>
                  <a:pt x="143272" y="189234"/>
                  <a:pt x="137218" y="192866"/>
                </a:cubicBezTo>
                <a:lnTo>
                  <a:pt x="100399" y="214949"/>
                </a:lnTo>
                <a:cubicBezTo>
                  <a:pt x="91507" y="220293"/>
                  <a:pt x="80152" y="213864"/>
                  <a:pt x="80152" y="203511"/>
                </a:cubicBezTo>
                <a:lnTo>
                  <a:pt x="80152" y="160304"/>
                </a:lnTo>
                <a:cubicBezTo>
                  <a:pt x="80152" y="145568"/>
                  <a:pt x="68171" y="133587"/>
                  <a:pt x="53435" y="133587"/>
                </a:cubicBezTo>
                <a:lnTo>
                  <a:pt x="53393" y="133587"/>
                </a:lnTo>
                <a:close/>
                <a:moveTo>
                  <a:pt x="166983" y="66793"/>
                </a:moveTo>
                <a:cubicBezTo>
                  <a:pt x="166983" y="55734"/>
                  <a:pt x="158004" y="46755"/>
                  <a:pt x="146945" y="46755"/>
                </a:cubicBezTo>
                <a:cubicBezTo>
                  <a:pt x="135886" y="46755"/>
                  <a:pt x="126907" y="55734"/>
                  <a:pt x="126907" y="66793"/>
                </a:cubicBezTo>
                <a:cubicBezTo>
                  <a:pt x="126907" y="77853"/>
                  <a:pt x="135886" y="86831"/>
                  <a:pt x="146945" y="86831"/>
                </a:cubicBezTo>
                <a:cubicBezTo>
                  <a:pt x="158004" y="86831"/>
                  <a:pt x="166983" y="77853"/>
                  <a:pt x="166983" y="66793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34" name="Text 32"/>
          <p:cNvSpPr/>
          <p:nvPr/>
        </p:nvSpPr>
        <p:spPr>
          <a:xfrm>
            <a:off x="6583480" y="1289558"/>
            <a:ext cx="5209876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6306" y="1681303"/>
            <a:ext cx="5370180" cy="748085"/>
          </a:xfrm>
          <a:custGeom>
            <a:avLst/>
            <a:gdLst/>
            <a:ahLst/>
            <a:cxnLst/>
            <a:rect l="l" t="t" r="r" b="b"/>
            <a:pathLst>
              <a:path w="5370180" h="748085">
                <a:moveTo>
                  <a:pt x="71248" y="0"/>
                </a:moveTo>
                <a:lnTo>
                  <a:pt x="5298932" y="0"/>
                </a:lnTo>
                <a:cubicBezTo>
                  <a:pt x="5338281" y="0"/>
                  <a:pt x="5370180" y="31899"/>
                  <a:pt x="5370180" y="71248"/>
                </a:cubicBezTo>
                <a:lnTo>
                  <a:pt x="5370180" y="676837"/>
                </a:lnTo>
                <a:cubicBezTo>
                  <a:pt x="5370180" y="716186"/>
                  <a:pt x="5338281" y="748085"/>
                  <a:pt x="5298932" y="748085"/>
                </a:cubicBezTo>
                <a:lnTo>
                  <a:pt x="71248" y="748085"/>
                </a:lnTo>
                <a:cubicBezTo>
                  <a:pt x="31899" y="748085"/>
                  <a:pt x="0" y="716186"/>
                  <a:pt x="0" y="676837"/>
                </a:cubicBezTo>
                <a:lnTo>
                  <a:pt x="0" y="71248"/>
                </a:lnTo>
                <a:cubicBezTo>
                  <a:pt x="0" y="31899"/>
                  <a:pt x="31899" y="0"/>
                  <a:pt x="712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87553" y="1752550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485516" y="1859419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103446" y="11995"/>
                </a:moveTo>
                <a:cubicBezTo>
                  <a:pt x="100218" y="8906"/>
                  <a:pt x="95459" y="8043"/>
                  <a:pt x="91368" y="9796"/>
                </a:cubicBezTo>
                <a:cubicBezTo>
                  <a:pt x="87277" y="11550"/>
                  <a:pt x="84605" y="15585"/>
                  <a:pt x="84605" y="20038"/>
                </a:cubicBezTo>
                <a:lnTo>
                  <a:pt x="84605" y="57971"/>
                </a:lnTo>
                <a:lnTo>
                  <a:pt x="36653" y="12023"/>
                </a:lnTo>
                <a:cubicBezTo>
                  <a:pt x="33424" y="8906"/>
                  <a:pt x="28665" y="8043"/>
                  <a:pt x="24574" y="9796"/>
                </a:cubicBezTo>
                <a:cubicBezTo>
                  <a:pt x="20483" y="11550"/>
                  <a:pt x="17812" y="15585"/>
                  <a:pt x="17812" y="20038"/>
                </a:cubicBezTo>
                <a:lnTo>
                  <a:pt x="17812" y="122454"/>
                </a:lnTo>
                <a:cubicBezTo>
                  <a:pt x="17812" y="126907"/>
                  <a:pt x="20483" y="130943"/>
                  <a:pt x="24574" y="132696"/>
                </a:cubicBezTo>
                <a:cubicBezTo>
                  <a:pt x="28665" y="134449"/>
                  <a:pt x="33424" y="133587"/>
                  <a:pt x="36653" y="130497"/>
                </a:cubicBezTo>
                <a:lnTo>
                  <a:pt x="84605" y="84521"/>
                </a:lnTo>
                <a:lnTo>
                  <a:pt x="84605" y="122454"/>
                </a:lnTo>
                <a:cubicBezTo>
                  <a:pt x="84605" y="126907"/>
                  <a:pt x="87277" y="130943"/>
                  <a:pt x="91368" y="132696"/>
                </a:cubicBezTo>
                <a:cubicBezTo>
                  <a:pt x="95459" y="134449"/>
                  <a:pt x="100218" y="133587"/>
                  <a:pt x="103446" y="130497"/>
                </a:cubicBezTo>
                <a:lnTo>
                  <a:pt x="156881" y="79289"/>
                </a:lnTo>
                <a:cubicBezTo>
                  <a:pt x="159079" y="77202"/>
                  <a:pt x="160304" y="74280"/>
                  <a:pt x="160304" y="71246"/>
                </a:cubicBezTo>
                <a:cubicBezTo>
                  <a:pt x="160304" y="68213"/>
                  <a:pt x="159051" y="65318"/>
                  <a:pt x="156881" y="63203"/>
                </a:cubicBezTo>
                <a:lnTo>
                  <a:pt x="103446" y="11995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38" name="Text 36"/>
          <p:cNvSpPr/>
          <p:nvPr/>
        </p:nvSpPr>
        <p:spPr>
          <a:xfrm>
            <a:off x="6850653" y="1752550"/>
            <a:ext cx="483583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Incremental Loading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0653" y="1966288"/>
            <a:ext cx="4835833" cy="391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Replace full refreshes with delta loading for improved performance and efficiency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6306" y="2500634"/>
            <a:ext cx="5370180" cy="552158"/>
          </a:xfrm>
          <a:custGeom>
            <a:avLst/>
            <a:gdLst/>
            <a:ahLst/>
            <a:cxnLst/>
            <a:rect l="l" t="t" r="r" b="b"/>
            <a:pathLst>
              <a:path w="5370180" h="552158">
                <a:moveTo>
                  <a:pt x="71245" y="0"/>
                </a:moveTo>
                <a:lnTo>
                  <a:pt x="5298935" y="0"/>
                </a:lnTo>
                <a:cubicBezTo>
                  <a:pt x="5338282" y="0"/>
                  <a:pt x="5370180" y="31897"/>
                  <a:pt x="5370180" y="71245"/>
                </a:cubicBezTo>
                <a:lnTo>
                  <a:pt x="5370180" y="480913"/>
                </a:lnTo>
                <a:cubicBezTo>
                  <a:pt x="5370180" y="520260"/>
                  <a:pt x="5338282" y="552158"/>
                  <a:pt x="5298935" y="552158"/>
                </a:cubicBezTo>
                <a:lnTo>
                  <a:pt x="71245" y="552158"/>
                </a:lnTo>
                <a:cubicBezTo>
                  <a:pt x="31924" y="552158"/>
                  <a:pt x="0" y="520234"/>
                  <a:pt x="0" y="480913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87553" y="2571880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485516" y="2678750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142604" y="66793"/>
                </a:moveTo>
                <a:lnTo>
                  <a:pt x="93622" y="66793"/>
                </a:lnTo>
                <a:cubicBezTo>
                  <a:pt x="88696" y="66793"/>
                  <a:pt x="84716" y="62814"/>
                  <a:pt x="84716" y="57888"/>
                </a:cubicBezTo>
                <a:lnTo>
                  <a:pt x="84716" y="8906"/>
                </a:lnTo>
                <a:cubicBezTo>
                  <a:pt x="84716" y="3980"/>
                  <a:pt x="88724" y="-56"/>
                  <a:pt x="93594" y="584"/>
                </a:cubicBezTo>
                <a:cubicBezTo>
                  <a:pt x="123373" y="4536"/>
                  <a:pt x="146973" y="28137"/>
                  <a:pt x="150925" y="57915"/>
                </a:cubicBezTo>
                <a:cubicBezTo>
                  <a:pt x="151565" y="62786"/>
                  <a:pt x="147530" y="66793"/>
                  <a:pt x="142604" y="66793"/>
                </a:cubicBezTo>
                <a:close/>
                <a:moveTo>
                  <a:pt x="61951" y="10353"/>
                </a:moveTo>
                <a:cubicBezTo>
                  <a:pt x="66988" y="9295"/>
                  <a:pt x="71357" y="13414"/>
                  <a:pt x="71357" y="18563"/>
                </a:cubicBezTo>
                <a:lnTo>
                  <a:pt x="71357" y="73473"/>
                </a:lnTo>
                <a:cubicBezTo>
                  <a:pt x="71357" y="75031"/>
                  <a:pt x="71914" y="76534"/>
                  <a:pt x="72888" y="77731"/>
                </a:cubicBezTo>
                <a:lnTo>
                  <a:pt x="109652" y="122093"/>
                </a:lnTo>
                <a:cubicBezTo>
                  <a:pt x="112908" y="126017"/>
                  <a:pt x="112213" y="131945"/>
                  <a:pt x="107732" y="134366"/>
                </a:cubicBezTo>
                <a:cubicBezTo>
                  <a:pt x="98242" y="139542"/>
                  <a:pt x="87360" y="142492"/>
                  <a:pt x="75810" y="142492"/>
                </a:cubicBezTo>
                <a:cubicBezTo>
                  <a:pt x="38935" y="142492"/>
                  <a:pt x="9017" y="112575"/>
                  <a:pt x="9017" y="75699"/>
                </a:cubicBezTo>
                <a:cubicBezTo>
                  <a:pt x="9017" y="43555"/>
                  <a:pt x="31699" y="16726"/>
                  <a:pt x="61951" y="10353"/>
                </a:cubicBezTo>
                <a:close/>
                <a:moveTo>
                  <a:pt x="132974" y="80152"/>
                </a:moveTo>
                <a:lnTo>
                  <a:pt x="150786" y="80152"/>
                </a:lnTo>
                <a:cubicBezTo>
                  <a:pt x="155934" y="80152"/>
                  <a:pt x="160053" y="84521"/>
                  <a:pt x="158996" y="89559"/>
                </a:cubicBezTo>
                <a:cubicBezTo>
                  <a:pt x="156157" y="103029"/>
                  <a:pt x="149255" y="114996"/>
                  <a:pt x="139626" y="124124"/>
                </a:cubicBezTo>
                <a:cubicBezTo>
                  <a:pt x="136203" y="127380"/>
                  <a:pt x="130831" y="126685"/>
                  <a:pt x="127826" y="123039"/>
                </a:cubicBezTo>
                <a:lnTo>
                  <a:pt x="104337" y="94735"/>
                </a:lnTo>
                <a:cubicBezTo>
                  <a:pt x="99522" y="88919"/>
                  <a:pt x="103669" y="80152"/>
                  <a:pt x="111183" y="80152"/>
                </a:cubicBezTo>
                <a:lnTo>
                  <a:pt x="132946" y="80152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3" name="Text 41"/>
          <p:cNvSpPr/>
          <p:nvPr/>
        </p:nvSpPr>
        <p:spPr>
          <a:xfrm>
            <a:off x="6850653" y="2571880"/>
            <a:ext cx="4452885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Interactive Dashboards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50653" y="2785619"/>
            <a:ext cx="4452885" cy="195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 visualizations with Power BI or Tableau for business stakeholders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6306" y="3124038"/>
            <a:ext cx="5370180" cy="552158"/>
          </a:xfrm>
          <a:custGeom>
            <a:avLst/>
            <a:gdLst/>
            <a:ahLst/>
            <a:cxnLst/>
            <a:rect l="l" t="t" r="r" b="b"/>
            <a:pathLst>
              <a:path w="5370180" h="552158">
                <a:moveTo>
                  <a:pt x="71245" y="0"/>
                </a:moveTo>
                <a:lnTo>
                  <a:pt x="5298935" y="0"/>
                </a:lnTo>
                <a:cubicBezTo>
                  <a:pt x="5338282" y="0"/>
                  <a:pt x="5370180" y="31897"/>
                  <a:pt x="5370180" y="71245"/>
                </a:cubicBezTo>
                <a:lnTo>
                  <a:pt x="5370180" y="480913"/>
                </a:lnTo>
                <a:cubicBezTo>
                  <a:pt x="5370180" y="520260"/>
                  <a:pt x="5338282" y="552158"/>
                  <a:pt x="5298935" y="552158"/>
                </a:cubicBezTo>
                <a:lnTo>
                  <a:pt x="71245" y="552158"/>
                </a:lnTo>
                <a:cubicBezTo>
                  <a:pt x="31924" y="552158"/>
                  <a:pt x="0" y="520234"/>
                  <a:pt x="0" y="480913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387553" y="3195284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B88A53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94422" y="3302154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0"/>
                </a:moveTo>
                <a:cubicBezTo>
                  <a:pt x="72526" y="0"/>
                  <a:pt x="73807" y="278"/>
                  <a:pt x="74975" y="807"/>
                </a:cubicBezTo>
                <a:lnTo>
                  <a:pt x="127408" y="23044"/>
                </a:lnTo>
                <a:cubicBezTo>
                  <a:pt x="133531" y="25632"/>
                  <a:pt x="138095" y="31671"/>
                  <a:pt x="138067" y="38963"/>
                </a:cubicBezTo>
                <a:cubicBezTo>
                  <a:pt x="137928" y="66571"/>
                  <a:pt x="126573" y="117083"/>
                  <a:pt x="78621" y="140043"/>
                </a:cubicBezTo>
                <a:cubicBezTo>
                  <a:pt x="73974" y="142270"/>
                  <a:pt x="68574" y="142270"/>
                  <a:pt x="63927" y="140043"/>
                </a:cubicBezTo>
                <a:cubicBezTo>
                  <a:pt x="15947" y="117083"/>
                  <a:pt x="4620" y="66571"/>
                  <a:pt x="4481" y="38963"/>
                </a:cubicBezTo>
                <a:cubicBezTo>
                  <a:pt x="4453" y="31671"/>
                  <a:pt x="9017" y="25632"/>
                  <a:pt x="15140" y="23044"/>
                </a:cubicBezTo>
                <a:lnTo>
                  <a:pt x="67545" y="807"/>
                </a:lnTo>
                <a:cubicBezTo>
                  <a:pt x="68714" y="278"/>
                  <a:pt x="69966" y="0"/>
                  <a:pt x="71246" y="0"/>
                </a:cubicBezTo>
                <a:close/>
                <a:moveTo>
                  <a:pt x="71246" y="18591"/>
                </a:moveTo>
                <a:lnTo>
                  <a:pt x="71246" y="123818"/>
                </a:lnTo>
                <a:cubicBezTo>
                  <a:pt x="109652" y="105227"/>
                  <a:pt x="119977" y="64038"/>
                  <a:pt x="120228" y="39380"/>
                </a:cubicBezTo>
                <a:lnTo>
                  <a:pt x="71246" y="18619"/>
                </a:lnTo>
                <a:lnTo>
                  <a:pt x="71246" y="18619"/>
                </a:lnTo>
                <a:close/>
              </a:path>
            </a:pathLst>
          </a:custGeom>
          <a:solidFill>
            <a:srgbClr val="B88A53"/>
          </a:solidFill>
        </p:spPr>
      </p:sp>
      <p:sp>
        <p:nvSpPr>
          <p:cNvPr id="48" name="Text 46"/>
          <p:cNvSpPr/>
          <p:nvPr/>
        </p:nvSpPr>
        <p:spPr>
          <a:xfrm>
            <a:off x="6850653" y="3195284"/>
            <a:ext cx="4328205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Quality Framework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0653" y="3409023"/>
            <a:ext cx="4328205" cy="195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 sophisticated validation, profiling, and anomaly detection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6306" y="3747442"/>
            <a:ext cx="5370180" cy="552158"/>
          </a:xfrm>
          <a:custGeom>
            <a:avLst/>
            <a:gdLst/>
            <a:ahLst/>
            <a:cxnLst/>
            <a:rect l="l" t="t" r="r" b="b"/>
            <a:pathLst>
              <a:path w="5370180" h="552158">
                <a:moveTo>
                  <a:pt x="71245" y="0"/>
                </a:moveTo>
                <a:lnTo>
                  <a:pt x="5298935" y="0"/>
                </a:lnTo>
                <a:cubicBezTo>
                  <a:pt x="5338282" y="0"/>
                  <a:pt x="5370180" y="31897"/>
                  <a:pt x="5370180" y="71245"/>
                </a:cubicBezTo>
                <a:lnTo>
                  <a:pt x="5370180" y="480913"/>
                </a:lnTo>
                <a:cubicBezTo>
                  <a:pt x="5370180" y="520260"/>
                  <a:pt x="5338282" y="552158"/>
                  <a:pt x="5298935" y="552158"/>
                </a:cubicBezTo>
                <a:lnTo>
                  <a:pt x="71245" y="552158"/>
                </a:lnTo>
                <a:cubicBezTo>
                  <a:pt x="31924" y="552158"/>
                  <a:pt x="0" y="520234"/>
                  <a:pt x="0" y="480913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387553" y="3818688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476610" y="3925558"/>
            <a:ext cx="178115" cy="142492"/>
          </a:xfrm>
          <a:custGeom>
            <a:avLst/>
            <a:gdLst/>
            <a:ahLst/>
            <a:cxnLst/>
            <a:rect l="l" t="t" r="r" b="b"/>
            <a:pathLst>
              <a:path w="178115" h="142492">
                <a:moveTo>
                  <a:pt x="97379" y="65764"/>
                </a:moveTo>
                <a:lnTo>
                  <a:pt x="78983" y="65764"/>
                </a:lnTo>
                <a:lnTo>
                  <a:pt x="78983" y="49232"/>
                </a:lnTo>
                <a:lnTo>
                  <a:pt x="97379" y="49232"/>
                </a:lnTo>
                <a:lnTo>
                  <a:pt x="97379" y="65764"/>
                </a:lnTo>
                <a:close/>
                <a:moveTo>
                  <a:pt x="97379" y="8906"/>
                </a:moveTo>
                <a:lnTo>
                  <a:pt x="78983" y="8906"/>
                </a:lnTo>
                <a:lnTo>
                  <a:pt x="78983" y="25799"/>
                </a:lnTo>
                <a:lnTo>
                  <a:pt x="97379" y="25799"/>
                </a:lnTo>
                <a:lnTo>
                  <a:pt x="97379" y="8906"/>
                </a:lnTo>
                <a:close/>
                <a:moveTo>
                  <a:pt x="119143" y="49204"/>
                </a:moveTo>
                <a:lnTo>
                  <a:pt x="100747" y="49204"/>
                </a:lnTo>
                <a:lnTo>
                  <a:pt x="100747" y="65736"/>
                </a:lnTo>
                <a:lnTo>
                  <a:pt x="119143" y="65736"/>
                </a:lnTo>
                <a:lnTo>
                  <a:pt x="119143" y="49204"/>
                </a:lnTo>
                <a:close/>
                <a:moveTo>
                  <a:pt x="75643" y="29139"/>
                </a:moveTo>
                <a:lnTo>
                  <a:pt x="57247" y="29139"/>
                </a:lnTo>
                <a:lnTo>
                  <a:pt x="57247" y="45865"/>
                </a:lnTo>
                <a:lnTo>
                  <a:pt x="75643" y="45865"/>
                </a:lnTo>
                <a:lnTo>
                  <a:pt x="75643" y="29139"/>
                </a:lnTo>
                <a:close/>
                <a:moveTo>
                  <a:pt x="97379" y="29139"/>
                </a:moveTo>
                <a:lnTo>
                  <a:pt x="78983" y="29139"/>
                </a:lnTo>
                <a:lnTo>
                  <a:pt x="78983" y="45865"/>
                </a:lnTo>
                <a:lnTo>
                  <a:pt x="97379" y="45865"/>
                </a:lnTo>
                <a:lnTo>
                  <a:pt x="97379" y="29139"/>
                </a:lnTo>
                <a:close/>
                <a:moveTo>
                  <a:pt x="174414" y="56969"/>
                </a:moveTo>
                <a:cubicBezTo>
                  <a:pt x="170406" y="54270"/>
                  <a:pt x="161167" y="53295"/>
                  <a:pt x="154070" y="54631"/>
                </a:cubicBezTo>
                <a:cubicBezTo>
                  <a:pt x="153151" y="47952"/>
                  <a:pt x="149422" y="42135"/>
                  <a:pt x="142631" y="36903"/>
                </a:cubicBezTo>
                <a:lnTo>
                  <a:pt x="138735" y="34315"/>
                </a:lnTo>
                <a:lnTo>
                  <a:pt x="136147" y="38211"/>
                </a:lnTo>
                <a:cubicBezTo>
                  <a:pt x="131026" y="45948"/>
                  <a:pt x="129635" y="58695"/>
                  <a:pt x="135117" y="67099"/>
                </a:cubicBezTo>
                <a:cubicBezTo>
                  <a:pt x="132696" y="68407"/>
                  <a:pt x="127937" y="70189"/>
                  <a:pt x="121647" y="70077"/>
                </a:cubicBezTo>
                <a:lnTo>
                  <a:pt x="668" y="70077"/>
                </a:lnTo>
                <a:cubicBezTo>
                  <a:pt x="-1753" y="84215"/>
                  <a:pt x="2282" y="102583"/>
                  <a:pt x="12913" y="115191"/>
                </a:cubicBezTo>
                <a:cubicBezTo>
                  <a:pt x="23238" y="127408"/>
                  <a:pt x="38712" y="133614"/>
                  <a:pt x="58945" y="133614"/>
                </a:cubicBezTo>
                <a:cubicBezTo>
                  <a:pt x="102750" y="133614"/>
                  <a:pt x="135173" y="113437"/>
                  <a:pt x="150341" y="76784"/>
                </a:cubicBezTo>
                <a:cubicBezTo>
                  <a:pt x="156296" y="76896"/>
                  <a:pt x="169154" y="76812"/>
                  <a:pt x="175750" y="64205"/>
                </a:cubicBezTo>
                <a:cubicBezTo>
                  <a:pt x="176167" y="63509"/>
                  <a:pt x="177587" y="60531"/>
                  <a:pt x="178115" y="59446"/>
                </a:cubicBezTo>
                <a:lnTo>
                  <a:pt x="174414" y="56969"/>
                </a:lnTo>
                <a:close/>
                <a:moveTo>
                  <a:pt x="32172" y="49204"/>
                </a:moveTo>
                <a:lnTo>
                  <a:pt x="13804" y="49204"/>
                </a:lnTo>
                <a:lnTo>
                  <a:pt x="13804" y="65736"/>
                </a:lnTo>
                <a:lnTo>
                  <a:pt x="32200" y="65736"/>
                </a:lnTo>
                <a:lnTo>
                  <a:pt x="32200" y="49204"/>
                </a:lnTo>
                <a:lnTo>
                  <a:pt x="32172" y="49204"/>
                </a:lnTo>
                <a:close/>
                <a:moveTo>
                  <a:pt x="53908" y="49204"/>
                </a:moveTo>
                <a:lnTo>
                  <a:pt x="35512" y="49204"/>
                </a:lnTo>
                <a:lnTo>
                  <a:pt x="35512" y="65736"/>
                </a:lnTo>
                <a:lnTo>
                  <a:pt x="53908" y="65736"/>
                </a:lnTo>
                <a:lnTo>
                  <a:pt x="53908" y="49204"/>
                </a:lnTo>
                <a:close/>
                <a:moveTo>
                  <a:pt x="75643" y="49204"/>
                </a:moveTo>
                <a:lnTo>
                  <a:pt x="57247" y="49204"/>
                </a:lnTo>
                <a:lnTo>
                  <a:pt x="57247" y="65736"/>
                </a:lnTo>
                <a:lnTo>
                  <a:pt x="75643" y="65736"/>
                </a:lnTo>
                <a:lnTo>
                  <a:pt x="75643" y="49204"/>
                </a:lnTo>
                <a:close/>
                <a:moveTo>
                  <a:pt x="53908" y="29139"/>
                </a:moveTo>
                <a:lnTo>
                  <a:pt x="35512" y="29139"/>
                </a:lnTo>
                <a:lnTo>
                  <a:pt x="35512" y="45865"/>
                </a:lnTo>
                <a:lnTo>
                  <a:pt x="53908" y="45865"/>
                </a:lnTo>
                <a:lnTo>
                  <a:pt x="53908" y="29139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53" name="Text 51"/>
          <p:cNvSpPr/>
          <p:nvPr/>
        </p:nvSpPr>
        <p:spPr>
          <a:xfrm>
            <a:off x="6850653" y="3818688"/>
            <a:ext cx="4452885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Containerization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50653" y="4032427"/>
            <a:ext cx="4452885" cy="195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Deploy with Docker and Docker Compose for consistent environments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16306" y="4370846"/>
            <a:ext cx="5370180" cy="552158"/>
          </a:xfrm>
          <a:custGeom>
            <a:avLst/>
            <a:gdLst/>
            <a:ahLst/>
            <a:cxnLst/>
            <a:rect l="l" t="t" r="r" b="b"/>
            <a:pathLst>
              <a:path w="5370180" h="552158">
                <a:moveTo>
                  <a:pt x="71245" y="0"/>
                </a:moveTo>
                <a:lnTo>
                  <a:pt x="5298935" y="0"/>
                </a:lnTo>
                <a:cubicBezTo>
                  <a:pt x="5338282" y="0"/>
                  <a:pt x="5370180" y="31897"/>
                  <a:pt x="5370180" y="71245"/>
                </a:cubicBezTo>
                <a:lnTo>
                  <a:pt x="5370180" y="480913"/>
                </a:lnTo>
                <a:cubicBezTo>
                  <a:pt x="5370180" y="520260"/>
                  <a:pt x="5338282" y="552158"/>
                  <a:pt x="5298935" y="552158"/>
                </a:cubicBezTo>
                <a:lnTo>
                  <a:pt x="71245" y="552158"/>
                </a:lnTo>
                <a:cubicBezTo>
                  <a:pt x="31924" y="552158"/>
                  <a:pt x="0" y="520234"/>
                  <a:pt x="0" y="480913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387553" y="4442092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6485516" y="4548962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0" y="93511"/>
                </a:moveTo>
                <a:cubicBezTo>
                  <a:pt x="0" y="115636"/>
                  <a:pt x="17951" y="133587"/>
                  <a:pt x="40076" y="133587"/>
                </a:cubicBezTo>
                <a:lnTo>
                  <a:pt x="124681" y="133587"/>
                </a:lnTo>
                <a:cubicBezTo>
                  <a:pt x="144357" y="133587"/>
                  <a:pt x="160304" y="117640"/>
                  <a:pt x="160304" y="97963"/>
                </a:cubicBezTo>
                <a:cubicBezTo>
                  <a:pt x="160304" y="83603"/>
                  <a:pt x="151816" y="71218"/>
                  <a:pt x="139570" y="65597"/>
                </a:cubicBezTo>
                <a:cubicBezTo>
                  <a:pt x="141435" y="61951"/>
                  <a:pt x="142492" y="57804"/>
                  <a:pt x="142492" y="53435"/>
                </a:cubicBezTo>
                <a:cubicBezTo>
                  <a:pt x="142492" y="38684"/>
                  <a:pt x="130525" y="26717"/>
                  <a:pt x="115775" y="26717"/>
                </a:cubicBezTo>
                <a:cubicBezTo>
                  <a:pt x="110849" y="26717"/>
                  <a:pt x="106257" y="28053"/>
                  <a:pt x="102305" y="30363"/>
                </a:cubicBezTo>
                <a:cubicBezTo>
                  <a:pt x="95598" y="17617"/>
                  <a:pt x="82211" y="8906"/>
                  <a:pt x="66793" y="8906"/>
                </a:cubicBezTo>
                <a:cubicBezTo>
                  <a:pt x="44668" y="8906"/>
                  <a:pt x="26717" y="26856"/>
                  <a:pt x="26717" y="48982"/>
                </a:cubicBezTo>
                <a:cubicBezTo>
                  <a:pt x="26717" y="51208"/>
                  <a:pt x="26912" y="53407"/>
                  <a:pt x="27246" y="55522"/>
                </a:cubicBezTo>
                <a:cubicBezTo>
                  <a:pt x="11411" y="60865"/>
                  <a:pt x="0" y="75866"/>
                  <a:pt x="0" y="93511"/>
                </a:cubicBezTo>
                <a:close/>
              </a:path>
            </a:pathLst>
          </a:custGeom>
          <a:solidFill>
            <a:srgbClr val="4C8DAE"/>
          </a:solidFill>
        </p:spPr>
      </p:sp>
      <p:sp>
        <p:nvSpPr>
          <p:cNvPr id="58" name="Text 56"/>
          <p:cNvSpPr/>
          <p:nvPr/>
        </p:nvSpPr>
        <p:spPr>
          <a:xfrm>
            <a:off x="6850653" y="4442092"/>
            <a:ext cx="460428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Cloud Migration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50653" y="4655831"/>
            <a:ext cx="4604283" cy="195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2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Move to AWS S3 + Amazon Redshift for scalable cloud data warehousing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74042" y="5731646"/>
            <a:ext cx="11461727" cy="569969"/>
          </a:xfrm>
          <a:custGeom>
            <a:avLst/>
            <a:gdLst/>
            <a:ahLst/>
            <a:cxnLst/>
            <a:rect l="l" t="t" r="r" b="b"/>
            <a:pathLst>
              <a:path w="11461727" h="569969">
                <a:moveTo>
                  <a:pt x="0" y="0"/>
                </a:moveTo>
                <a:lnTo>
                  <a:pt x="11390481" y="0"/>
                </a:lnTo>
                <a:cubicBezTo>
                  <a:pt x="11429829" y="0"/>
                  <a:pt x="11461727" y="31898"/>
                  <a:pt x="11461727" y="71246"/>
                </a:cubicBezTo>
                <a:lnTo>
                  <a:pt x="11461727" y="498723"/>
                </a:lnTo>
                <a:cubicBezTo>
                  <a:pt x="11461727" y="538071"/>
                  <a:pt x="11429829" y="569969"/>
                  <a:pt x="11390481" y="569969"/>
                </a:cubicBezTo>
                <a:lnTo>
                  <a:pt x="0" y="56996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B88A53">
                  <a:alpha val="20000"/>
                </a:srgbClr>
              </a:gs>
            </a:gsLst>
            <a:lin ang="0" scaled="1"/>
          </a:gradFill>
        </p:spPr>
      </p:sp>
      <p:sp>
        <p:nvSpPr>
          <p:cNvPr id="61" name="Shape 59"/>
          <p:cNvSpPr/>
          <p:nvPr/>
        </p:nvSpPr>
        <p:spPr>
          <a:xfrm>
            <a:off x="374042" y="5731646"/>
            <a:ext cx="35623" cy="569969"/>
          </a:xfrm>
          <a:custGeom>
            <a:avLst/>
            <a:gdLst/>
            <a:ahLst/>
            <a:cxnLst/>
            <a:rect l="l" t="t" r="r" b="b"/>
            <a:pathLst>
              <a:path w="35623" h="569969">
                <a:moveTo>
                  <a:pt x="0" y="0"/>
                </a:moveTo>
                <a:lnTo>
                  <a:pt x="35623" y="0"/>
                </a:lnTo>
                <a:lnTo>
                  <a:pt x="35623" y="569969"/>
                </a:lnTo>
                <a:lnTo>
                  <a:pt x="0" y="569969"/>
                </a:lnTo>
                <a:lnTo>
                  <a:pt x="0" y="0"/>
                </a:lnTo>
                <a:close/>
              </a:path>
            </a:pathLst>
          </a:custGeom>
          <a:solidFill>
            <a:srgbClr val="4C8DAE"/>
          </a:solidFill>
        </p:spPr>
      </p:sp>
      <p:sp>
        <p:nvSpPr>
          <p:cNvPr id="62" name="Shape 60"/>
          <p:cNvSpPr/>
          <p:nvPr/>
        </p:nvSpPr>
        <p:spPr>
          <a:xfrm>
            <a:off x="503176" y="5927573"/>
            <a:ext cx="133587" cy="178115"/>
          </a:xfrm>
          <a:custGeom>
            <a:avLst/>
            <a:gdLst/>
            <a:ahLst/>
            <a:cxnLst/>
            <a:rect l="l" t="t" r="r" b="b"/>
            <a:pathLst>
              <a:path w="133587" h="178115">
                <a:moveTo>
                  <a:pt x="101895" y="133587"/>
                </a:moveTo>
                <a:cubicBezTo>
                  <a:pt x="104434" y="125829"/>
                  <a:pt x="109513" y="118802"/>
                  <a:pt x="115253" y="112748"/>
                </a:cubicBezTo>
                <a:cubicBezTo>
                  <a:pt x="126629" y="100781"/>
                  <a:pt x="133587" y="84605"/>
                  <a:pt x="133587" y="66793"/>
                </a:cubicBezTo>
                <a:cubicBezTo>
                  <a:pt x="133587" y="29918"/>
                  <a:pt x="103669" y="0"/>
                  <a:pt x="66793" y="0"/>
                </a:cubicBezTo>
                <a:cubicBezTo>
                  <a:pt x="29918" y="0"/>
                  <a:pt x="0" y="29918"/>
                  <a:pt x="0" y="66793"/>
                </a:cubicBezTo>
                <a:cubicBezTo>
                  <a:pt x="0" y="84605"/>
                  <a:pt x="6958" y="100781"/>
                  <a:pt x="18333" y="112748"/>
                </a:cubicBezTo>
                <a:cubicBezTo>
                  <a:pt x="24073" y="118802"/>
                  <a:pt x="29187" y="125829"/>
                  <a:pt x="31692" y="133587"/>
                </a:cubicBezTo>
                <a:lnTo>
                  <a:pt x="101860" y="133587"/>
                </a:lnTo>
                <a:close/>
                <a:moveTo>
                  <a:pt x="100190" y="150285"/>
                </a:moveTo>
                <a:lnTo>
                  <a:pt x="33397" y="150285"/>
                </a:lnTo>
                <a:lnTo>
                  <a:pt x="33397" y="155851"/>
                </a:lnTo>
                <a:cubicBezTo>
                  <a:pt x="33397" y="171227"/>
                  <a:pt x="45851" y="183682"/>
                  <a:pt x="61227" y="183682"/>
                </a:cubicBezTo>
                <a:lnTo>
                  <a:pt x="72359" y="183682"/>
                </a:lnTo>
                <a:cubicBezTo>
                  <a:pt x="87736" y="183682"/>
                  <a:pt x="100190" y="171227"/>
                  <a:pt x="100190" y="155851"/>
                </a:cubicBezTo>
                <a:lnTo>
                  <a:pt x="100190" y="150285"/>
                </a:lnTo>
                <a:close/>
                <a:moveTo>
                  <a:pt x="64010" y="38963"/>
                </a:moveTo>
                <a:cubicBezTo>
                  <a:pt x="50165" y="38963"/>
                  <a:pt x="38963" y="50165"/>
                  <a:pt x="38963" y="64010"/>
                </a:cubicBezTo>
                <a:cubicBezTo>
                  <a:pt x="38963" y="68637"/>
                  <a:pt x="35240" y="72359"/>
                  <a:pt x="30614" y="72359"/>
                </a:cubicBezTo>
                <a:cubicBezTo>
                  <a:pt x="25987" y="72359"/>
                  <a:pt x="22264" y="68637"/>
                  <a:pt x="22264" y="64010"/>
                </a:cubicBezTo>
                <a:cubicBezTo>
                  <a:pt x="22264" y="40946"/>
                  <a:pt x="40946" y="22264"/>
                  <a:pt x="64010" y="22264"/>
                </a:cubicBezTo>
                <a:cubicBezTo>
                  <a:pt x="68637" y="22264"/>
                  <a:pt x="72359" y="25987"/>
                  <a:pt x="72359" y="30614"/>
                </a:cubicBezTo>
                <a:cubicBezTo>
                  <a:pt x="72359" y="35240"/>
                  <a:pt x="68637" y="38963"/>
                  <a:pt x="64010" y="38963"/>
                </a:cubicBezTo>
                <a:close/>
              </a:path>
            </a:pathLst>
          </a:custGeom>
          <a:solidFill>
            <a:srgbClr val="B88A53"/>
          </a:solidFill>
        </p:spPr>
      </p:sp>
      <p:sp>
        <p:nvSpPr>
          <p:cNvPr id="63" name="Text 61"/>
          <p:cNvSpPr/>
          <p:nvPr/>
        </p:nvSpPr>
        <p:spPr>
          <a:xfrm>
            <a:off x="786380" y="5802892"/>
            <a:ext cx="11052061" cy="427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Strategic Impact:</a:t>
            </a:r>
            <a:r>
              <a:rPr lang="en-US" sz="112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This project establishes a </a:t>
            </a:r>
            <a:r>
              <a:rPr lang="en-US" sz="112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reusable ETL framework</a:t>
            </a:r>
            <a:r>
              <a:rPr lang="en-US" sz="112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that can be adapted for various business domains, demonstrating production-ready data engineering capabilities.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cb847d210a66e344b58ddf2f1ec61f18c66d2a5.jpeg"/>
          <p:cNvPicPr>
            <a:picLocks noChangeAspect="1"/>
          </p:cNvPicPr>
          <p:nvPr/>
        </p:nvPicPr>
        <p:blipFill>
          <a:blip r:embed="rId1">
            <a:alphaModFix amt="20000"/>
          </a:blip>
          <a:srcRect l="180" r="18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C8DAE">
                  <a:alpha val="3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681" y="59007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/>
              </a:gs>
              <a:gs pos="100000">
                <a:srgbClr val="B88A53"/>
              </a:gs>
            </a:gsLst>
            <a:lin ang="2700000" scaled="1"/>
          </a:gradFill>
        </p:spPr>
      </p:sp>
      <p:sp>
        <p:nvSpPr>
          <p:cNvPr id="5" name="Shape 2"/>
          <p:cNvSpPr/>
          <p:nvPr/>
        </p:nvSpPr>
        <p:spPr>
          <a:xfrm>
            <a:off x="5895856" y="81867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88263" y="62597"/>
                </a:moveTo>
                <a:cubicBezTo>
                  <a:pt x="401032" y="71884"/>
                  <a:pt x="403890" y="89743"/>
                  <a:pt x="394603" y="102513"/>
                </a:cubicBezTo>
                <a:lnTo>
                  <a:pt x="166003" y="416838"/>
                </a:lnTo>
                <a:cubicBezTo>
                  <a:pt x="161092" y="423624"/>
                  <a:pt x="153501" y="427821"/>
                  <a:pt x="145107" y="428536"/>
                </a:cubicBezTo>
                <a:cubicBezTo>
                  <a:pt x="136714" y="429250"/>
                  <a:pt x="128588" y="426125"/>
                  <a:pt x="122694" y="420231"/>
                </a:cubicBezTo>
                <a:lnTo>
                  <a:pt x="8394" y="305931"/>
                </a:lnTo>
                <a:cubicBezTo>
                  <a:pt x="-2768" y="294769"/>
                  <a:pt x="-2768" y="276642"/>
                  <a:pt x="8394" y="265480"/>
                </a:cubicBezTo>
                <a:cubicBezTo>
                  <a:pt x="19556" y="254318"/>
                  <a:pt x="37683" y="254318"/>
                  <a:pt x="48845" y="265480"/>
                </a:cubicBezTo>
                <a:lnTo>
                  <a:pt x="139482" y="356116"/>
                </a:lnTo>
                <a:lnTo>
                  <a:pt x="348436" y="68848"/>
                </a:lnTo>
                <a:cubicBezTo>
                  <a:pt x="357723" y="56078"/>
                  <a:pt x="375583" y="53221"/>
                  <a:pt x="388352" y="6250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6" name="Text 3"/>
          <p:cNvSpPr/>
          <p:nvPr/>
        </p:nvSpPr>
        <p:spPr>
          <a:xfrm>
            <a:off x="4627721" y="1733076"/>
            <a:ext cx="29337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8E8E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13446" y="2456976"/>
            <a:ext cx="2762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8E8E8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42210" y="3375065"/>
            <a:ext cx="7303770" cy="2055495"/>
          </a:xfrm>
          <a:custGeom>
            <a:avLst/>
            <a:gdLst/>
            <a:ahLst/>
            <a:cxnLst/>
            <a:rect l="l" t="t" r="r" b="b"/>
            <a:pathLst>
              <a:path w="7303770" h="2055495">
                <a:moveTo>
                  <a:pt x="152394" y="0"/>
                </a:moveTo>
                <a:lnTo>
                  <a:pt x="7151376" y="0"/>
                </a:lnTo>
                <a:cubicBezTo>
                  <a:pt x="7235541" y="0"/>
                  <a:pt x="7303770" y="68229"/>
                  <a:pt x="7303770" y="152394"/>
                </a:cubicBezTo>
                <a:lnTo>
                  <a:pt x="7303770" y="1903101"/>
                </a:lnTo>
                <a:cubicBezTo>
                  <a:pt x="7303770" y="1987266"/>
                  <a:pt x="7235541" y="2055495"/>
                  <a:pt x="7151376" y="2055495"/>
                </a:cubicBezTo>
                <a:lnTo>
                  <a:pt x="152394" y="2055495"/>
                </a:lnTo>
                <a:cubicBezTo>
                  <a:pt x="68229" y="2055495"/>
                  <a:pt x="0" y="1987266"/>
                  <a:pt x="0" y="190310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4C8DAE">
              <a:alpha val="10196"/>
            </a:srgbClr>
          </a:solidFill>
          <a:ln w="1016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07958" y="3683673"/>
            <a:ext cx="67722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We've demonstrated a </a:t>
            </a:r>
            <a:r>
              <a:rPr lang="en-US" sz="135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 ETL pipeline</a:t>
            </a:r>
            <a:r>
              <a:rPr lang="en-US" sz="1350" dirty="0">
                <a:solidFill>
                  <a:srgbClr val="E8E8E8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that transforms raw CSV data into an analytics-ready data warehouse using industry-standard tools and best practices.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79383" y="4469485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12720" y="4888585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CSV Sources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5623" y="4469485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8A5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18961" y="4888585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91983" y="4469485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8D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25320" y="4888585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DW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85799" y="5734413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Northwind Sales ETL Data Engineering Pipeline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5799" y="6039213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March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8272</Words>
  <Application>WPS Presentation</Application>
  <PresentationFormat>On-screen Show (16:9)</PresentationFormat>
  <Paragraphs>585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Sales ETL Data Engineering Pipeline</dc:title>
  <dc:creator>Kimi</dc:creator>
  <dc:subject>Northwind Sales ETL Data Engineering Pipeline</dc:subject>
  <cp:lastModifiedBy>IbrahimHegazi</cp:lastModifiedBy>
  <cp:revision>3</cp:revision>
  <dcterms:created xsi:type="dcterms:W3CDTF">2026-03-10T11:58:00Z</dcterms:created>
  <dcterms:modified xsi:type="dcterms:W3CDTF">2026-03-10T13:01:03Z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{"Label":"Northwind Sales ETL Data Engineering Pipeline","ContentProducer":"001191110108MACG2KBH8F10000","ProduceID":"19cd7921-2c62-8e8b-8000-0000fc4fc49f","ReservedCode1":"","ContentPropagator":"001191110108MACG2KBH8F20000","PropagateID":"19cd7921-2c62-8e8b-8000-0000fc4fc49f","ReservedCode2":""}</vt:lpwstr>
  </property>
  <property fmtid="{D5CDD505-2E9C-101B-9397-08002B2CF9AE}" pid="3" name="ICV">
    <vt:lpwstr>50A848CA6E354D18A959E52DF225B00D_12</vt:lpwstr>
  </property>
  <property fmtid="{D5CDD505-2E9C-101B-9397-08002B2CF9AE}" pid="4" name="KSOProductBuildVer">
    <vt:lpwstr>1033-12.2.0.23196</vt:lpwstr>
  </property>
</Properties>
</file>